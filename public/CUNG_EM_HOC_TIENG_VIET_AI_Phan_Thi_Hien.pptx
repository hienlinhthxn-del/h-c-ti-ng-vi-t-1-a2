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ptos Bold" panose="020B0604020202020204" charset="0"/>
      <p:regular r:id="rId12"/>
    </p:embeddedFont>
    <p:embeddedFont>
      <p:font typeface="Aptos Italics" panose="020B0604020202020204" charset="0"/>
      <p:regular r:id="rId13"/>
    </p:embeddedFont>
    <p:embeddedFont>
      <p:font typeface="Museo RMIT VN Bold" panose="020B0604020202020204" charset="0"/>
      <p:regular r:id="rId14"/>
    </p:embeddedFont>
    <p:embeddedFont>
      <p:font typeface="Museo RMIT VN Light"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ền Phan" initials="HP" lastIdx="1" clrIdx="0">
    <p:extLst>
      <p:ext uri="{19B8F6BF-5375-455C-9EA6-DF929625EA0E}">
        <p15:presenceInfo xmlns:p15="http://schemas.microsoft.com/office/powerpoint/2012/main" userId="S::phanthihien.ththitran.tc@dienbien.edu.vn::1184809e-3b99-4fdf-817c-ccdea51ad5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4" d="100"/>
          <a:sy n="64" d="100"/>
        </p:scale>
        <p:origin x="78" y="3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ền Phan" userId="1184809e-3b99-4fdf-817c-ccdea51ad56d" providerId="ADAL" clId="{AD62A41F-67F8-46C9-9D04-8B5104B7630F}"/>
    <pc:docChg chg="undo custSel modSld">
      <pc:chgData name="Hiền Phan" userId="1184809e-3b99-4fdf-817c-ccdea51ad56d" providerId="ADAL" clId="{AD62A41F-67F8-46C9-9D04-8B5104B7630F}" dt="2026-10-23T13:49:17.168" v="204" actId="478"/>
      <pc:docMkLst>
        <pc:docMk/>
      </pc:docMkLst>
      <pc:sldChg chg="addSp delSp modSp mod">
        <pc:chgData name="Hiền Phan" userId="1184809e-3b99-4fdf-817c-ccdea51ad56d" providerId="ADAL" clId="{AD62A41F-67F8-46C9-9D04-8B5104B7630F}" dt="2026-10-23T13:05:54.936" v="192" actId="20577"/>
        <pc:sldMkLst>
          <pc:docMk/>
          <pc:sldMk cId="0" sldId="256"/>
        </pc:sldMkLst>
        <pc:spChg chg="mod">
          <ac:chgData name="Hiền Phan" userId="1184809e-3b99-4fdf-817c-ccdea51ad56d" providerId="ADAL" clId="{AD62A41F-67F8-46C9-9D04-8B5104B7630F}" dt="2026-10-23T11:56:52.367" v="169" actId="1076"/>
          <ac:spMkLst>
            <pc:docMk/>
            <pc:sldMk cId="0" sldId="256"/>
            <ac:spMk id="2" creationId="{00000000-0000-0000-0000-000000000000}"/>
          </ac:spMkLst>
        </pc:spChg>
        <pc:spChg chg="mod topLvl">
          <ac:chgData name="Hiền Phan" userId="1184809e-3b99-4fdf-817c-ccdea51ad56d" providerId="ADAL" clId="{AD62A41F-67F8-46C9-9D04-8B5104B7630F}" dt="2026-10-23T11:49:10.418" v="97" actId="165"/>
          <ac:spMkLst>
            <pc:docMk/>
            <pc:sldMk cId="0" sldId="256"/>
            <ac:spMk id="4" creationId="{00000000-0000-0000-0000-000000000000}"/>
          </ac:spMkLst>
        </pc:spChg>
        <pc:spChg chg="mod topLvl">
          <ac:chgData name="Hiền Phan" userId="1184809e-3b99-4fdf-817c-ccdea51ad56d" providerId="ADAL" clId="{AD62A41F-67F8-46C9-9D04-8B5104B7630F}" dt="2026-10-23T11:49:10.418" v="97" actId="165"/>
          <ac:spMkLst>
            <pc:docMk/>
            <pc:sldMk cId="0" sldId="256"/>
            <ac:spMk id="5" creationId="{00000000-0000-0000-0000-000000000000}"/>
          </ac:spMkLst>
        </pc:spChg>
        <pc:spChg chg="add del mod topLvl">
          <ac:chgData name="Hiền Phan" userId="1184809e-3b99-4fdf-817c-ccdea51ad56d" providerId="ADAL" clId="{AD62A41F-67F8-46C9-9D04-8B5104B7630F}" dt="2026-10-23T11:53:41.109" v="144" actId="478"/>
          <ac:spMkLst>
            <pc:docMk/>
            <pc:sldMk cId="0" sldId="256"/>
            <ac:spMk id="7" creationId="{00000000-0000-0000-0000-000000000000}"/>
          </ac:spMkLst>
        </pc:spChg>
        <pc:spChg chg="mod">
          <ac:chgData name="Hiền Phan" userId="1184809e-3b99-4fdf-817c-ccdea51ad56d" providerId="ADAL" clId="{AD62A41F-67F8-46C9-9D04-8B5104B7630F}" dt="2026-10-23T13:05:54.936" v="192" actId="20577"/>
          <ac:spMkLst>
            <pc:docMk/>
            <pc:sldMk cId="0" sldId="256"/>
            <ac:spMk id="11" creationId="{00000000-0000-0000-0000-000000000000}"/>
          </ac:spMkLst>
        </pc:spChg>
        <pc:spChg chg="mod">
          <ac:chgData name="Hiền Phan" userId="1184809e-3b99-4fdf-817c-ccdea51ad56d" providerId="ADAL" clId="{AD62A41F-67F8-46C9-9D04-8B5104B7630F}" dt="2026-10-23T11:47:50.428" v="91" actId="20577"/>
          <ac:spMkLst>
            <pc:docMk/>
            <pc:sldMk cId="0" sldId="256"/>
            <ac:spMk id="12" creationId="{00000000-0000-0000-0000-000000000000}"/>
          </ac:spMkLst>
        </pc:spChg>
        <pc:spChg chg="mod">
          <ac:chgData name="Hiền Phan" userId="1184809e-3b99-4fdf-817c-ccdea51ad56d" providerId="ADAL" clId="{AD62A41F-67F8-46C9-9D04-8B5104B7630F}" dt="2026-10-23T11:48:34.651" v="94" actId="14100"/>
          <ac:spMkLst>
            <pc:docMk/>
            <pc:sldMk cId="0" sldId="256"/>
            <ac:spMk id="13" creationId="{00000000-0000-0000-0000-000000000000}"/>
          </ac:spMkLst>
        </pc:spChg>
        <pc:grpChg chg="del">
          <ac:chgData name="Hiền Phan" userId="1184809e-3b99-4fdf-817c-ccdea51ad56d" providerId="ADAL" clId="{AD62A41F-67F8-46C9-9D04-8B5104B7630F}" dt="2026-10-23T11:49:10.418" v="97" actId="165"/>
          <ac:grpSpMkLst>
            <pc:docMk/>
            <pc:sldMk cId="0" sldId="256"/>
            <ac:grpSpMk id="3" creationId="{00000000-0000-0000-0000-000000000000}"/>
          </ac:grpSpMkLst>
        </pc:grpChg>
        <pc:grpChg chg="del">
          <ac:chgData name="Hiền Phan" userId="1184809e-3b99-4fdf-817c-ccdea51ad56d" providerId="ADAL" clId="{AD62A41F-67F8-46C9-9D04-8B5104B7630F}" dt="2026-10-23T11:48:55.105" v="95" actId="478"/>
          <ac:grpSpMkLst>
            <pc:docMk/>
            <pc:sldMk cId="0" sldId="256"/>
            <ac:grpSpMk id="6" creationId="{00000000-0000-0000-0000-000000000000}"/>
          </ac:grpSpMkLst>
        </pc:grpChg>
        <pc:picChg chg="add mod">
          <ac:chgData name="Hiền Phan" userId="1184809e-3b99-4fdf-817c-ccdea51ad56d" providerId="ADAL" clId="{AD62A41F-67F8-46C9-9D04-8B5104B7630F}" dt="2026-10-23T11:50:00.398" v="109" actId="14100"/>
          <ac:picMkLst>
            <pc:docMk/>
            <pc:sldMk cId="0" sldId="256"/>
            <ac:picMk id="14" creationId="{12B12620-CDAD-7593-69A3-D0A467436C8D}"/>
          </ac:picMkLst>
        </pc:picChg>
        <pc:picChg chg="add del mod modCrop">
          <ac:chgData name="Hiền Phan" userId="1184809e-3b99-4fdf-817c-ccdea51ad56d" providerId="ADAL" clId="{AD62A41F-67F8-46C9-9D04-8B5104B7630F}" dt="2026-10-23T11:55:57.047" v="158" actId="478"/>
          <ac:picMkLst>
            <pc:docMk/>
            <pc:sldMk cId="0" sldId="256"/>
            <ac:picMk id="15" creationId="{22EF0992-B019-BEE7-AA86-2BCAD29745C5}"/>
          </ac:picMkLst>
        </pc:picChg>
        <pc:picChg chg="add mod modCrop">
          <ac:chgData name="Hiền Phan" userId="1184809e-3b99-4fdf-817c-ccdea51ad56d" providerId="ADAL" clId="{AD62A41F-67F8-46C9-9D04-8B5104B7630F}" dt="2026-10-23T11:57:26.007" v="179" actId="1076"/>
          <ac:picMkLst>
            <pc:docMk/>
            <pc:sldMk cId="0" sldId="256"/>
            <ac:picMk id="16" creationId="{77F03194-B000-BBA8-EFD7-01272FFE20E8}"/>
          </ac:picMkLst>
        </pc:picChg>
      </pc:sldChg>
      <pc:sldChg chg="addSp delSp modSp mod">
        <pc:chgData name="Hiền Phan" userId="1184809e-3b99-4fdf-817c-ccdea51ad56d" providerId="ADAL" clId="{AD62A41F-67F8-46C9-9D04-8B5104B7630F}" dt="2026-10-23T13:49:17.168" v="204" actId="478"/>
        <pc:sldMkLst>
          <pc:docMk/>
          <pc:sldMk cId="0" sldId="257"/>
        </pc:sldMkLst>
        <pc:spChg chg="del">
          <ac:chgData name="Hiền Phan" userId="1184809e-3b99-4fdf-817c-ccdea51ad56d" providerId="ADAL" clId="{AD62A41F-67F8-46C9-9D04-8B5104B7630F}" dt="2026-10-23T13:49:12.401" v="203" actId="478"/>
          <ac:spMkLst>
            <pc:docMk/>
            <pc:sldMk cId="0" sldId="257"/>
            <ac:spMk id="7" creationId="{00000000-0000-0000-0000-000000000000}"/>
          </ac:spMkLst>
        </pc:spChg>
        <pc:spChg chg="del">
          <ac:chgData name="Hiền Phan" userId="1184809e-3b99-4fdf-817c-ccdea51ad56d" providerId="ADAL" clId="{AD62A41F-67F8-46C9-9D04-8B5104B7630F}" dt="2026-10-23T13:49:17.168" v="204" actId="478"/>
          <ac:spMkLst>
            <pc:docMk/>
            <pc:sldMk cId="0" sldId="257"/>
            <ac:spMk id="9" creationId="{00000000-0000-0000-0000-000000000000}"/>
          </ac:spMkLst>
        </pc:spChg>
        <pc:spChg chg="del">
          <ac:chgData name="Hiền Phan" userId="1184809e-3b99-4fdf-817c-ccdea51ad56d" providerId="ADAL" clId="{AD62A41F-67F8-46C9-9D04-8B5104B7630F}" dt="2026-10-23T13:48:40.591" v="193" actId="478"/>
          <ac:spMkLst>
            <pc:docMk/>
            <pc:sldMk cId="0" sldId="257"/>
            <ac:spMk id="10" creationId="{00000000-0000-0000-0000-000000000000}"/>
          </ac:spMkLst>
        </pc:spChg>
        <pc:picChg chg="add mod">
          <ac:chgData name="Hiền Phan" userId="1184809e-3b99-4fdf-817c-ccdea51ad56d" providerId="ADAL" clId="{AD62A41F-67F8-46C9-9D04-8B5104B7630F}" dt="2026-10-23T13:49:05.150" v="202" actId="1076"/>
          <ac:picMkLst>
            <pc:docMk/>
            <pc:sldMk cId="0" sldId="257"/>
            <ac:picMk id="12" creationId="{4BCC363A-E99B-415B-FDFA-CDEBA244AF5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245707"/>
            <a:ext cx="16230600" cy="3012805"/>
          </a:xfrm>
          <a:custGeom>
            <a:avLst/>
            <a:gdLst/>
            <a:ahLst/>
            <a:cxnLst/>
            <a:rect l="l" t="t" r="r" b="b"/>
            <a:pathLst>
              <a:path w="16230600" h="3012805">
                <a:moveTo>
                  <a:pt x="0" y="0"/>
                </a:moveTo>
                <a:lnTo>
                  <a:pt x="16230600" y="0"/>
                </a:lnTo>
                <a:lnTo>
                  <a:pt x="16230600" y="3012806"/>
                </a:lnTo>
                <a:lnTo>
                  <a:pt x="0" y="3012806"/>
                </a:lnTo>
                <a:lnTo>
                  <a:pt x="0" y="0"/>
                </a:lnTo>
                <a:close/>
              </a:path>
            </a:pathLst>
          </a:custGeom>
          <a:blipFill>
            <a:blip r:embed="rId2"/>
            <a:stretch>
              <a:fillRect/>
            </a:stretch>
          </a:blipFill>
        </p:spPr>
        <p:txBody>
          <a:bodyPr/>
          <a:lstStyle/>
          <a:p>
            <a:endParaRPr lang="en-AU"/>
          </a:p>
        </p:txBody>
      </p:sp>
      <p:sp>
        <p:nvSpPr>
          <p:cNvPr id="4" name="TextBox 4"/>
          <p:cNvSpPr txBox="1"/>
          <p:nvPr/>
        </p:nvSpPr>
        <p:spPr>
          <a:xfrm>
            <a:off x="4396352" y="6624086"/>
            <a:ext cx="2826394" cy="326305"/>
          </a:xfrm>
          <a:prstGeom prst="rect">
            <a:avLst/>
          </a:prstGeom>
        </p:spPr>
        <p:txBody>
          <a:bodyPr lIns="0" tIns="0" rIns="0" bIns="0" rtlCol="0" anchor="t">
            <a:spAutoFit/>
          </a:bodyPr>
          <a:lstStyle/>
          <a:p>
            <a:pPr algn="l">
              <a:lnSpc>
                <a:spcPts val="2588"/>
              </a:lnSpc>
            </a:pPr>
            <a:r>
              <a:rPr lang="en-US" sz="2156" b="1" spc="79">
                <a:solidFill>
                  <a:srgbClr val="FFFFFF"/>
                </a:solidFill>
                <a:latin typeface="Museo RMIT VN Bold"/>
                <a:ea typeface="Museo RMIT VN Bold"/>
                <a:cs typeface="Museo RMIT VN Bold"/>
                <a:sym typeface="Museo RMIT VN Bold"/>
              </a:rPr>
              <a:t>Giáo viên thực hiện</a:t>
            </a:r>
          </a:p>
        </p:txBody>
      </p:sp>
      <p:sp>
        <p:nvSpPr>
          <p:cNvPr id="5" name="TextBox 5"/>
          <p:cNvSpPr txBox="1"/>
          <p:nvPr/>
        </p:nvSpPr>
        <p:spPr>
          <a:xfrm>
            <a:off x="4581578" y="8553617"/>
            <a:ext cx="2266817" cy="326305"/>
          </a:xfrm>
          <a:prstGeom prst="rect">
            <a:avLst/>
          </a:prstGeom>
        </p:spPr>
        <p:txBody>
          <a:bodyPr lIns="0" tIns="0" rIns="0" bIns="0" rtlCol="0" anchor="t">
            <a:spAutoFit/>
          </a:bodyPr>
          <a:lstStyle/>
          <a:p>
            <a:pPr algn="just">
              <a:lnSpc>
                <a:spcPts val="2588"/>
              </a:lnSpc>
            </a:pPr>
            <a:r>
              <a:rPr lang="en-US" sz="2156" dirty="0">
                <a:solidFill>
                  <a:srgbClr val="FFEA00"/>
                </a:solidFill>
                <a:latin typeface="Museo RMIT VN Light"/>
                <a:ea typeface="Museo RMIT VN Light"/>
                <a:cs typeface="Museo RMIT VN Light"/>
                <a:sym typeface="Museo RMIT VN Light"/>
              </a:rPr>
              <a:t> </a:t>
            </a:r>
            <a:r>
              <a:rPr lang="vi-VN" sz="2156" dirty="0">
                <a:solidFill>
                  <a:srgbClr val="FFEA00"/>
                </a:solidFill>
                <a:latin typeface="Museo RMIT VN Light"/>
                <a:ea typeface="Museo RMIT VN Light"/>
                <a:cs typeface="Museo RMIT VN Light"/>
                <a:sym typeface="Museo RMIT VN Light"/>
              </a:rPr>
              <a:t>Phan Thị Hiền</a:t>
            </a:r>
            <a:endParaRPr lang="en-US" sz="2156" dirty="0">
              <a:solidFill>
                <a:srgbClr val="FFEA00"/>
              </a:solidFill>
              <a:latin typeface="Museo RMIT VN Light"/>
              <a:ea typeface="Museo RMIT VN Light"/>
              <a:cs typeface="Museo RMIT VN Light"/>
              <a:sym typeface="Museo RMIT VN Light"/>
            </a:endParaRPr>
          </a:p>
        </p:txBody>
      </p:sp>
      <p:sp>
        <p:nvSpPr>
          <p:cNvPr id="8" name="Freeform 8"/>
          <p:cNvSpPr/>
          <p:nvPr/>
        </p:nvSpPr>
        <p:spPr>
          <a:xfrm>
            <a:off x="589229" y="5696988"/>
            <a:ext cx="1654581" cy="1854195"/>
          </a:xfrm>
          <a:custGeom>
            <a:avLst/>
            <a:gdLst/>
            <a:ahLst/>
            <a:cxnLst/>
            <a:rect l="l" t="t" r="r" b="b"/>
            <a:pathLst>
              <a:path w="1654581" h="1854195">
                <a:moveTo>
                  <a:pt x="0" y="0"/>
                </a:moveTo>
                <a:lnTo>
                  <a:pt x="1654581" y="0"/>
                </a:lnTo>
                <a:lnTo>
                  <a:pt x="1654581" y="1854195"/>
                </a:lnTo>
                <a:lnTo>
                  <a:pt x="0" y="1854195"/>
                </a:lnTo>
                <a:lnTo>
                  <a:pt x="0" y="0"/>
                </a:lnTo>
                <a:close/>
              </a:path>
            </a:pathLst>
          </a:custGeom>
          <a:blipFill>
            <a:blip r:embed="rId3"/>
            <a:stretch>
              <a:fillRect/>
            </a:stretch>
          </a:blipFill>
        </p:spPr>
        <p:txBody>
          <a:bodyPr/>
          <a:lstStyle/>
          <a:p>
            <a:endParaRPr lang="en-AU"/>
          </a:p>
        </p:txBody>
      </p:sp>
      <p:sp>
        <p:nvSpPr>
          <p:cNvPr id="9" name="Freeform 9"/>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4"/>
            <a:stretch>
              <a:fillRect/>
            </a:stretch>
          </a:blipFill>
        </p:spPr>
        <p:txBody>
          <a:bodyPr/>
          <a:lstStyle/>
          <a:p>
            <a:endParaRPr lang="en-AU"/>
          </a:p>
        </p:txBody>
      </p:sp>
      <p:sp>
        <p:nvSpPr>
          <p:cNvPr id="10" name="Freeform 10"/>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5"/>
            <a:stretch>
              <a:fillRect/>
            </a:stretch>
          </a:blipFill>
        </p:spPr>
        <p:txBody>
          <a:bodyPr/>
          <a:lstStyle/>
          <a:p>
            <a:endParaRPr lang="en-AU"/>
          </a:p>
        </p:txBody>
      </p:sp>
      <p:sp>
        <p:nvSpPr>
          <p:cNvPr id="11" name="TextBox 11"/>
          <p:cNvSpPr txBox="1"/>
          <p:nvPr/>
        </p:nvSpPr>
        <p:spPr>
          <a:xfrm>
            <a:off x="1028700" y="4097608"/>
            <a:ext cx="16230600" cy="969387"/>
          </a:xfrm>
          <a:prstGeom prst="rect">
            <a:avLst/>
          </a:prstGeom>
        </p:spPr>
        <p:txBody>
          <a:bodyPr lIns="0" tIns="0" rIns="0" bIns="0" rtlCol="0" anchor="t">
            <a:spAutoFit/>
          </a:bodyPr>
          <a:lstStyle/>
          <a:p>
            <a:pPr algn="ctr">
              <a:lnSpc>
                <a:spcPts val="7611"/>
              </a:lnSpc>
            </a:pPr>
            <a:r>
              <a:rPr lang="vi-VN" sz="6453" b="1" spc="-322" dirty="0">
                <a:solidFill>
                  <a:srgbClr val="000054"/>
                </a:solidFill>
                <a:latin typeface="Aptos Bold"/>
                <a:ea typeface="Aptos Bold"/>
                <a:cs typeface="Aptos Bold"/>
                <a:sym typeface="Aptos Bold"/>
              </a:rPr>
              <a:t>CÙNG EM HỌC TIẾNG VIỆT - AI</a:t>
            </a:r>
            <a:endParaRPr lang="en-US" sz="6453" b="1" spc="-322" dirty="0">
              <a:solidFill>
                <a:srgbClr val="000054"/>
              </a:solidFill>
              <a:latin typeface="Aptos Bold"/>
              <a:ea typeface="Aptos Bold"/>
              <a:cs typeface="Aptos Bold"/>
              <a:sym typeface="Aptos Bold"/>
            </a:endParaRPr>
          </a:p>
        </p:txBody>
      </p:sp>
      <p:sp>
        <p:nvSpPr>
          <p:cNvPr id="12" name="TextBox 12"/>
          <p:cNvSpPr txBox="1"/>
          <p:nvPr/>
        </p:nvSpPr>
        <p:spPr>
          <a:xfrm>
            <a:off x="8395088" y="6718687"/>
            <a:ext cx="7229682" cy="692497"/>
          </a:xfrm>
          <a:prstGeom prst="rect">
            <a:avLst/>
          </a:prstGeom>
        </p:spPr>
        <p:txBody>
          <a:bodyPr lIns="0" tIns="0" rIns="0" bIns="0" rtlCol="0" anchor="t">
            <a:spAutoFit/>
          </a:bodyPr>
          <a:lstStyle/>
          <a:p>
            <a:pPr algn="l">
              <a:lnSpc>
                <a:spcPts val="2999"/>
              </a:lnSpc>
            </a:pPr>
            <a:r>
              <a:rPr lang="en-US" sz="2499" b="1" spc="92" dirty="0" err="1">
                <a:solidFill>
                  <a:srgbClr val="FFFFFF"/>
                </a:solidFill>
                <a:latin typeface="Aptos Bold"/>
                <a:ea typeface="Aptos Bold"/>
                <a:cs typeface="Aptos Bold"/>
                <a:sym typeface="Aptos Bold"/>
              </a:rPr>
              <a:t>Đơn</a:t>
            </a:r>
            <a:r>
              <a:rPr lang="en-US" sz="2499" b="1" spc="92" dirty="0">
                <a:solidFill>
                  <a:srgbClr val="FFFFFF"/>
                </a:solidFill>
                <a:latin typeface="Aptos Bold"/>
                <a:ea typeface="Aptos Bold"/>
                <a:cs typeface="Aptos Bold"/>
                <a:sym typeface="Aptos Bold"/>
              </a:rPr>
              <a:t> </a:t>
            </a:r>
            <a:r>
              <a:rPr lang="en-US" sz="2499" b="1" spc="92" dirty="0" err="1">
                <a:solidFill>
                  <a:srgbClr val="FFFFFF"/>
                </a:solidFill>
                <a:latin typeface="Aptos Bold"/>
                <a:ea typeface="Aptos Bold"/>
                <a:cs typeface="Aptos Bold"/>
                <a:sym typeface="Aptos Bold"/>
              </a:rPr>
              <a:t>vị</a:t>
            </a:r>
            <a:r>
              <a:rPr lang="en-US" sz="2499" b="1" spc="92" dirty="0">
                <a:solidFill>
                  <a:srgbClr val="FFFFFF"/>
                </a:solidFill>
                <a:latin typeface="Aptos Bold"/>
                <a:ea typeface="Aptos Bold"/>
                <a:cs typeface="Aptos Bold"/>
                <a:sym typeface="Aptos Bold"/>
              </a:rPr>
              <a:t> </a:t>
            </a:r>
            <a:r>
              <a:rPr lang="en-US" sz="2499" b="1" spc="92" dirty="0" err="1">
                <a:solidFill>
                  <a:srgbClr val="FFFFFF"/>
                </a:solidFill>
                <a:latin typeface="Aptos Bold"/>
                <a:ea typeface="Aptos Bold"/>
                <a:cs typeface="Aptos Bold"/>
                <a:sym typeface="Aptos Bold"/>
              </a:rPr>
              <a:t>công</a:t>
            </a:r>
            <a:r>
              <a:rPr lang="en-US" sz="2499" b="1" spc="92" dirty="0">
                <a:solidFill>
                  <a:srgbClr val="FFFFFF"/>
                </a:solidFill>
                <a:latin typeface="Aptos Bold"/>
                <a:ea typeface="Aptos Bold"/>
                <a:cs typeface="Aptos Bold"/>
                <a:sym typeface="Aptos Bold"/>
              </a:rPr>
              <a:t> </a:t>
            </a:r>
            <a:r>
              <a:rPr lang="en-US" sz="2499" b="1" spc="92" dirty="0" err="1">
                <a:solidFill>
                  <a:srgbClr val="FFFFFF"/>
                </a:solidFill>
                <a:latin typeface="Aptos Bold"/>
                <a:ea typeface="Aptos Bold"/>
                <a:cs typeface="Aptos Bold"/>
                <a:sym typeface="Aptos Bold"/>
              </a:rPr>
              <a:t>tác</a:t>
            </a:r>
            <a:r>
              <a:rPr lang="en-US" sz="2499" b="1" spc="92" dirty="0">
                <a:solidFill>
                  <a:srgbClr val="FFFFFF"/>
                </a:solidFill>
                <a:latin typeface="Aptos Bold"/>
                <a:ea typeface="Aptos Bold"/>
                <a:cs typeface="Aptos Bold"/>
                <a:sym typeface="Aptos Bold"/>
              </a:rPr>
              <a:t>:</a:t>
            </a:r>
          </a:p>
          <a:p>
            <a:pPr algn="l">
              <a:lnSpc>
                <a:spcPts val="2400"/>
              </a:lnSpc>
            </a:pPr>
            <a:r>
              <a:rPr lang="vi-VN" sz="2000" spc="74" dirty="0">
                <a:solidFill>
                  <a:srgbClr val="FFFFFF"/>
                </a:solidFill>
                <a:latin typeface="Aptos"/>
                <a:ea typeface="Aptos"/>
                <a:cs typeface="Aptos"/>
                <a:sym typeface="Aptos"/>
              </a:rPr>
              <a:t>Trường PTDTBTTH Tủa Chùa</a:t>
            </a:r>
            <a:endParaRPr lang="en-US" sz="2000" spc="74" dirty="0">
              <a:solidFill>
                <a:srgbClr val="FFFFFF"/>
              </a:solidFill>
              <a:latin typeface="Aptos"/>
              <a:ea typeface="Aptos"/>
              <a:cs typeface="Aptos"/>
              <a:sym typeface="Aptos"/>
            </a:endParaRPr>
          </a:p>
        </p:txBody>
      </p:sp>
      <p:sp>
        <p:nvSpPr>
          <p:cNvPr id="13" name="TextBox 13"/>
          <p:cNvSpPr txBox="1"/>
          <p:nvPr/>
        </p:nvSpPr>
        <p:spPr>
          <a:xfrm>
            <a:off x="8395088" y="8021732"/>
            <a:ext cx="4787512" cy="692497"/>
          </a:xfrm>
          <a:prstGeom prst="rect">
            <a:avLst/>
          </a:prstGeom>
        </p:spPr>
        <p:txBody>
          <a:bodyPr wrap="square" lIns="0" tIns="0" rIns="0" bIns="0" rtlCol="0" anchor="t">
            <a:spAutoFit/>
          </a:bodyPr>
          <a:lstStyle/>
          <a:p>
            <a:pPr marL="0" lvl="0" indent="0" algn="just">
              <a:lnSpc>
                <a:spcPts val="2999"/>
              </a:lnSpc>
              <a:spcBef>
                <a:spcPct val="0"/>
              </a:spcBef>
            </a:pPr>
            <a:r>
              <a:rPr lang="en-US" sz="2499" b="1" u="none" strike="noStrike" dirty="0">
                <a:solidFill>
                  <a:srgbClr val="FFFFFF"/>
                </a:solidFill>
                <a:latin typeface="Aptos Bold"/>
                <a:ea typeface="Aptos Bold"/>
                <a:cs typeface="Aptos Bold"/>
                <a:sym typeface="Aptos Bold"/>
              </a:rPr>
              <a:t>Email:</a:t>
            </a:r>
            <a:r>
              <a:rPr lang="en-US" sz="2499" u="none" strike="noStrike" dirty="0">
                <a:solidFill>
                  <a:srgbClr val="FFFFFF"/>
                </a:solidFill>
                <a:latin typeface="Aptos"/>
                <a:ea typeface="Aptos"/>
                <a:cs typeface="Aptos"/>
                <a:sym typeface="Aptos"/>
              </a:rPr>
              <a:t> </a:t>
            </a:r>
          </a:p>
          <a:p>
            <a:pPr marL="0" lvl="0" indent="0" algn="just">
              <a:lnSpc>
                <a:spcPts val="2400"/>
              </a:lnSpc>
              <a:spcBef>
                <a:spcPct val="0"/>
              </a:spcBef>
            </a:pPr>
            <a:r>
              <a:rPr lang="en-US" sz="2000" u="none" strike="noStrike" dirty="0">
                <a:solidFill>
                  <a:srgbClr val="FFFFFF"/>
                </a:solidFill>
                <a:latin typeface="Aptos"/>
                <a:ea typeface="Aptos"/>
                <a:cs typeface="Aptos"/>
                <a:sym typeface="Aptos"/>
              </a:rPr>
              <a:t>phanthihien.ththitran.tc@dienbien.edu.vn</a:t>
            </a:r>
          </a:p>
        </p:txBody>
      </p:sp>
      <p:pic>
        <p:nvPicPr>
          <p:cNvPr id="16" name="Picture 15">
            <a:extLst>
              <a:ext uri="{FF2B5EF4-FFF2-40B4-BE49-F238E27FC236}">
                <a16:creationId xmlns:a16="http://schemas.microsoft.com/office/drawing/2014/main" id="{77F03194-B000-BBA8-EFD7-01272FFE20E8}"/>
              </a:ext>
            </a:extLst>
          </p:cNvPr>
          <p:cNvPicPr>
            <a:picLocks noChangeAspect="1"/>
          </p:cNvPicPr>
          <p:nvPr/>
        </p:nvPicPr>
        <p:blipFill>
          <a:blip r:embed="rId6"/>
          <a:srcRect t="2778" r="6944"/>
          <a:stretch>
            <a:fillRect/>
          </a:stretch>
        </p:blipFill>
        <p:spPr>
          <a:xfrm>
            <a:off x="4724400" y="6961378"/>
            <a:ext cx="1524000" cy="159223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Freeform 3"/>
          <p:cNvSpPr/>
          <p:nvPr/>
        </p:nvSpPr>
        <p:spPr>
          <a:xfrm>
            <a:off x="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r="-100000"/>
            </a:stretch>
          </a:blipFill>
        </p:spPr>
        <p:txBody>
          <a:bodyPr/>
          <a:lstStyle/>
          <a:p>
            <a:endParaRPr lang="en-AU"/>
          </a:p>
        </p:txBody>
      </p:sp>
      <p:grpSp>
        <p:nvGrpSpPr>
          <p:cNvPr id="4" name="Group 4"/>
          <p:cNvGrpSpPr/>
          <p:nvPr/>
        </p:nvGrpSpPr>
        <p:grpSpPr>
          <a:xfrm>
            <a:off x="1028700" y="1028700"/>
            <a:ext cx="6952685" cy="8153400"/>
            <a:chOff x="0" y="0"/>
            <a:chExt cx="1831160" cy="2147398"/>
          </a:xfrm>
        </p:grpSpPr>
        <p:sp>
          <p:nvSpPr>
            <p:cNvPr id="5" name="Freeform 5"/>
            <p:cNvSpPr/>
            <p:nvPr/>
          </p:nvSpPr>
          <p:spPr>
            <a:xfrm>
              <a:off x="0" y="0"/>
              <a:ext cx="1831160" cy="2147398"/>
            </a:xfrm>
            <a:custGeom>
              <a:avLst/>
              <a:gdLst/>
              <a:ahLst/>
              <a:cxnLst/>
              <a:rect l="l" t="t" r="r" b="b"/>
              <a:pathLst>
                <a:path w="1831160" h="2147398">
                  <a:moveTo>
                    <a:pt x="0" y="0"/>
                  </a:moveTo>
                  <a:lnTo>
                    <a:pt x="1831160" y="0"/>
                  </a:lnTo>
                  <a:lnTo>
                    <a:pt x="1831160" y="2147398"/>
                  </a:lnTo>
                  <a:lnTo>
                    <a:pt x="0" y="2147398"/>
                  </a:lnTo>
                  <a:close/>
                </a:path>
              </a:pathLst>
            </a:custGeom>
            <a:solidFill>
              <a:srgbClr val="FFFFFF"/>
            </a:solidFill>
          </p:spPr>
          <p:txBody>
            <a:bodyPr/>
            <a:lstStyle/>
            <a:p>
              <a:endParaRPr lang="en-AU"/>
            </a:p>
          </p:txBody>
        </p:sp>
        <p:sp>
          <p:nvSpPr>
            <p:cNvPr id="6" name="TextBox 6"/>
            <p:cNvSpPr txBox="1"/>
            <p:nvPr/>
          </p:nvSpPr>
          <p:spPr>
            <a:xfrm>
              <a:off x="0" y="66675"/>
              <a:ext cx="1831160" cy="2080723"/>
            </a:xfrm>
            <a:prstGeom prst="rect">
              <a:avLst/>
            </a:prstGeom>
          </p:spPr>
          <p:txBody>
            <a:bodyPr lIns="50800" tIns="50800" rIns="50800" bIns="50800" rtlCol="0" anchor="ctr"/>
            <a:lstStyle/>
            <a:p>
              <a:pPr algn="ctr">
                <a:lnSpc>
                  <a:spcPts val="2454"/>
                </a:lnSpc>
              </a:pPr>
              <a:endParaRPr/>
            </a:p>
          </p:txBody>
        </p:sp>
      </p:grpSp>
      <p:sp>
        <p:nvSpPr>
          <p:cNvPr id="8" name="TextBox 8"/>
          <p:cNvSpPr txBox="1"/>
          <p:nvPr/>
        </p:nvSpPr>
        <p:spPr>
          <a:xfrm>
            <a:off x="10693948" y="9428646"/>
            <a:ext cx="6889202" cy="627420"/>
          </a:xfrm>
          <a:prstGeom prst="rect">
            <a:avLst/>
          </a:prstGeom>
        </p:spPr>
        <p:txBody>
          <a:bodyPr lIns="0" tIns="0" rIns="0" bIns="0" rtlCol="0" anchor="t">
            <a:spAutoFit/>
          </a:bodyPr>
          <a:lstStyle/>
          <a:p>
            <a:pPr algn="l">
              <a:lnSpc>
                <a:spcPts val="2454"/>
              </a:lnSpc>
            </a:pPr>
            <a:r>
              <a:rPr lang="en-US" sz="2600" b="1" spc="96">
                <a:solidFill>
                  <a:srgbClr val="000054"/>
                </a:solidFill>
                <a:latin typeface="Aptos Bold"/>
                <a:ea typeface="Aptos Bold"/>
                <a:cs typeface="Aptos Bold"/>
                <a:sym typeface="Aptos Bold"/>
              </a:rPr>
              <a:t>Giải Thưởng Tiên Phong Ứng Dụng AI Trong Giáo Dục Việt Nam 2026</a:t>
            </a:r>
          </a:p>
        </p:txBody>
      </p:sp>
      <p:pic>
        <p:nvPicPr>
          <p:cNvPr id="12" name="Picture 11">
            <a:extLst>
              <a:ext uri="{FF2B5EF4-FFF2-40B4-BE49-F238E27FC236}">
                <a16:creationId xmlns:a16="http://schemas.microsoft.com/office/drawing/2014/main" id="{4BCC363A-E99B-415B-FDFA-CDEBA244AF5A}"/>
              </a:ext>
            </a:extLst>
          </p:cNvPr>
          <p:cNvPicPr>
            <a:picLocks noChangeAspect="1"/>
          </p:cNvPicPr>
          <p:nvPr/>
        </p:nvPicPr>
        <p:blipFill>
          <a:blip r:embed="rId4"/>
          <a:stretch>
            <a:fillRect/>
          </a:stretch>
        </p:blipFill>
        <p:spPr>
          <a:xfrm>
            <a:off x="1199585" y="1104899"/>
            <a:ext cx="6781800" cy="81533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NỘI DUNG BÀI TRÌNH BÀY</a:t>
            </a:r>
          </a:p>
        </p:txBody>
      </p:sp>
      <p:sp>
        <p:nvSpPr>
          <p:cNvPr id="4" name="TextBox 4"/>
          <p:cNvSpPr txBox="1"/>
          <p:nvPr/>
        </p:nvSpPr>
        <p:spPr>
          <a:xfrm>
            <a:off x="714375" y="2027149"/>
            <a:ext cx="16868775" cy="6500000"/>
          </a:xfrm>
          <a:prstGeom prst="rect">
            <a:avLst/>
          </a:prstGeom>
        </p:spPr>
        <p:txBody>
          <a:bodyPr lIns="0" tIns="0" rIns="0" bIns="0" rtlCol="0" anchor="t">
            <a:spAutoFit/>
          </a:bodyPr>
          <a:lstStyle/>
          <a:p xmlns:a="http://schemas.openxmlformats.org/drawingml/2006/main">
            <a:pPr marL="550000" lvl="1" indent="-300000" algn="l">
              <a:lnSpc>
                <a:spcPts val="3800"/>
              </a:lnSpc>
              <a:spcBef>
                <a:spcPts val="500"/>
              </a:spcBef>
              <a:buFont typeface="Arial"/>
              <a:buChar char="•"/>
            </a:pPr>
            <a:r>
              <a:rPr lang="vi-VN" sz="2400" b="1">
                <a:solidFill>
                  <a:srgbClr val="000054"/>
                </a:solidFill>
                <a:latin typeface="Aptos Bold"/>
                <a:ea typeface="Aptos Bold"/>
                <a:cs typeface="Aptos Bold"/>
              </a:rPr>
              <a:t>1. Bối cảnh và Vấn đề thực tiễn: </a:t>
            </a:r>
            <a:r>
              <a:rPr lang="vi-VN" sz="2400">
                <a:solidFill>
                  <a:srgbClr val="000054"/>
                </a:solidFill>
                <a:latin typeface="Aptos"/>
                <a:ea typeface="Aptos"/>
                <a:cs typeface="Aptos"/>
              </a:rPr>
              <a:t>Những khó khăn đặc thù khi dạy và học Tiếng Việt Lớp 1 cho học sinh vùng cao tại Trường PTDTBT Tiểu học Tủa Chùa – Tỉnh Điện Biên.</a:t>
            </a:r>
          </a:p>
          <a:p xmlns:a="http://schemas.openxmlformats.org/drawingml/2006/main">
            <a:pPr marL="550000" lvl="1" indent="-300000" algn="l">
              <a:lnSpc>
                <a:spcPts val="3800"/>
              </a:lnSpc>
              <a:spcBef>
                <a:spcPts val="500"/>
              </a:spcBef>
              <a:buFont typeface="Arial"/>
              <a:buChar char="•"/>
            </a:pPr>
            <a:r>
              <a:rPr lang="vi-VN" sz="2400" b="1">
                <a:solidFill>
                  <a:srgbClr val="000054"/>
                </a:solidFill>
                <a:latin typeface="Aptos Bold"/>
                <a:ea typeface="Aptos Bold"/>
                <a:cs typeface="Aptos Bold"/>
              </a:rPr>
              <a:t>2. Ý tưởng và Giải pháp AI: </a:t>
            </a:r>
            <a:r>
              <a:rPr lang="vi-VN" sz="2400">
                <a:solidFill>
                  <a:srgbClr val="000054"/>
                </a:solidFill>
                <a:latin typeface="Aptos"/>
                <a:ea typeface="Aptos"/>
                <a:cs typeface="Aptos"/>
              </a:rPr>
              <a:t>Xây dựng ứng dụng web thông minh HỌC TIẾNG VIỆT CÙNG AI tích hợp nhận diện giọng nói, chấm điểm phát âm và nhận xét cá nhân hóa 1 kèm 1.</a:t>
            </a:r>
          </a:p>
          <a:p xmlns:a="http://schemas.openxmlformats.org/drawingml/2006/main">
            <a:pPr marL="550000" lvl="1" indent="-300000" algn="l">
              <a:lnSpc>
                <a:spcPts val="3800"/>
              </a:lnSpc>
              <a:spcBef>
                <a:spcPts val="500"/>
              </a:spcBef>
              <a:buFont typeface="Arial"/>
              <a:buChar char="•"/>
            </a:pPr>
            <a:r>
              <a:rPr lang="vi-VN" sz="2400" b="1">
                <a:solidFill>
                  <a:srgbClr val="000054"/>
                </a:solidFill>
                <a:latin typeface="Aptos Bold"/>
                <a:ea typeface="Aptos Bold"/>
                <a:cs typeface="Aptos Bold"/>
              </a:rPr>
              <a:t>3. Kiến trúc 3 phân hệ &amp; Đạo đức AI: </a:t>
            </a:r>
            <a:r>
              <a:rPr lang="vi-VN" sz="2400">
                <a:solidFill>
                  <a:srgbClr val="000054"/>
                </a:solidFill>
                <a:latin typeface="Aptos"/>
                <a:ea typeface="Aptos"/>
                <a:cs typeface="Aptos"/>
              </a:rPr>
              <a:t>Kết nối đồng bộ Học sinh – Giáo viên – Phụ huynh; chuẩn SGK Kết nối tri thức, tuân thủ Thông tư 27 và Nghị định 13/2023/NĐ-CP.</a:t>
            </a:r>
          </a:p>
          <a:p xmlns:a="http://schemas.openxmlformats.org/drawingml/2006/main">
            <a:pPr marL="550000" lvl="1" indent="-300000" algn="l">
              <a:lnSpc>
                <a:spcPts val="3800"/>
              </a:lnSpc>
              <a:spcBef>
                <a:spcPts val="500"/>
              </a:spcBef>
              <a:buFont typeface="Arial"/>
              <a:buChar char="•"/>
            </a:pPr>
            <a:r>
              <a:rPr lang="vi-VN" sz="2400" b="1">
                <a:solidFill>
                  <a:srgbClr val="000054"/>
                </a:solidFill>
                <a:latin typeface="Aptos Bold"/>
                <a:ea typeface="Aptos Bold"/>
                <a:cs typeface="Aptos Bold"/>
              </a:rPr>
              <a:t>4. Triển khai thực tế: </a:t>
            </a:r>
            <a:r>
              <a:rPr lang="vi-VN" sz="2400">
                <a:solidFill>
                  <a:srgbClr val="000054"/>
                </a:solidFill>
                <a:latin typeface="Aptos"/>
                <a:ea typeface="Aptos"/>
                <a:cs typeface="Aptos"/>
              </a:rPr>
              <a:t>Ứng dụng linh hoạt trên lớp học, trong giờ tự học bán trú buổi chiều và tự luyện đọc cùng phụ huynh tại gia đình.</a:t>
            </a:r>
          </a:p>
          <a:p xmlns:a="http://schemas.openxmlformats.org/drawingml/2006/main">
            <a:pPr marL="550000" lvl="1" indent="-300000" algn="l">
              <a:lnSpc>
                <a:spcPts val="3800"/>
              </a:lnSpc>
              <a:spcBef>
                <a:spcPts val="500"/>
              </a:spcBef>
              <a:buFont typeface="Arial"/>
              <a:buChar char="•"/>
            </a:pPr>
            <a:r>
              <a:rPr lang="vi-VN" sz="2400" b="1">
                <a:solidFill>
                  <a:srgbClr val="000054"/>
                </a:solidFill>
                <a:latin typeface="Aptos Bold"/>
                <a:ea typeface="Aptos Bold"/>
                <a:cs typeface="Aptos Bold"/>
              </a:rPr>
              <a:t>5. Kết quả và Tác động: </a:t>
            </a:r>
            <a:r>
              <a:rPr lang="vi-VN" sz="2400">
                <a:solidFill>
                  <a:srgbClr val="000054"/>
                </a:solidFill>
                <a:latin typeface="Aptos"/>
                <a:ea typeface="Aptos"/>
                <a:cs typeface="Aptos"/>
              </a:rPr>
              <a:t>Nâng cao rõ rệt năng lực đọc thành tiếng của học sinh, giảm 65% thời gian chấm bài thủ công cho giáo viên.</a:t>
            </a:r>
          </a:p>
          <a:p xmlns:a="http://schemas.openxmlformats.org/drawingml/2006/main">
            <a:pPr marL="550000" lvl="1" indent="-300000" algn="l">
              <a:lnSpc>
                <a:spcPts val="3800"/>
              </a:lnSpc>
              <a:spcBef>
                <a:spcPts val="500"/>
              </a:spcBef>
              <a:buFont typeface="Arial"/>
              <a:buChar char="•"/>
            </a:pPr>
            <a:r>
              <a:rPr lang="vi-VN" sz="2400" b="1">
                <a:solidFill>
                  <a:srgbClr val="000054"/>
                </a:solidFill>
                <a:latin typeface="Aptos Bold"/>
                <a:ea typeface="Aptos Bold"/>
                <a:cs typeface="Aptos Bold"/>
              </a:rPr>
              <a:t>6. Thảo luận, Tổng kết &amp; Nhân rộng: </a:t>
            </a:r>
            <a:r>
              <a:rPr lang="vi-VN" sz="2400">
                <a:solidFill>
                  <a:srgbClr val="000054"/>
                </a:solidFill>
                <a:latin typeface="Aptos"/>
                <a:ea typeface="Aptos"/>
                <a:cs typeface="Aptos"/>
              </a:rPr>
              <a:t>Tính bền vững, khả năng nhân rộng miễn phí cho các trường Tiểu học và đường dẫn trải nghiệm trực tiếp cho Ban Giám Khảo.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BỐI CẢNH VÀ VẤN ĐỀ</a:t>
            </a:r>
          </a:p>
        </p:txBody>
      </p:sp>
      <p:sp>
        <p:nvSpPr>
          <p:cNvPr id="4" name="TextBox 4"/>
          <p:cNvSpPr txBox="1"/>
          <p:nvPr/>
        </p:nvSpPr>
        <p:spPr>
          <a:xfrm>
            <a:off x="714375" y="2027149"/>
            <a:ext cx="16868775" cy="6500000"/>
          </a:xfrm>
          <a:prstGeom prst="rect">
            <a:avLst/>
          </a:prstGeom>
        </p:spPr>
        <p:txBody>
          <a:bodyPr lIns="0" tIns="0" rIns="0" bIns="0" rtlCol="0" anchor="t">
            <a:spAutoFit/>
          </a:bodyPr>
          <a:lstStyle/>
          <a:p xmlns:a="http://schemas.openxmlformats.org/drawingml/2006/main">
            <a:pPr marL="550000" lvl="1" indent="-300000" algn="l">
              <a:lnSpc>
                <a:spcPts val="3450"/>
              </a:lnSpc>
              <a:spcBef>
                <a:spcPts val="500"/>
              </a:spcBef>
              <a:buFont typeface="Arial"/>
              <a:buChar char="•"/>
            </a:pPr>
            <a:r>
              <a:rPr lang="vi-VN" sz="2300" b="1">
                <a:solidFill>
                  <a:srgbClr val="000054"/>
                </a:solidFill>
                <a:latin typeface="Aptos Bold"/>
                <a:ea typeface="Aptos Bold"/>
                <a:cs typeface="Aptos Bold"/>
              </a:rPr>
              <a:t>Đối tượng chính: </a:t>
            </a:r>
            <a:r>
              <a:rPr lang="vi-VN" sz="2300">
                <a:solidFill>
                  <a:srgbClr val="000054"/>
                </a:solidFill>
                <a:latin typeface="Aptos"/>
                <a:ea typeface="Aptos"/>
                <a:cs typeface="Aptos"/>
              </a:rPr>
              <a:t>Học sinh Lớp 1 (đa số là con em đồng bào dân tộc thiểu số), Giáo viên và Phụ huynh tại Trường PTDTBT Tiểu học Tủa Chùa – Điện Biên.</a:t>
            </a:r>
          </a:p>
          <a:p xmlns:a="http://schemas.openxmlformats.org/drawingml/2006/main">
            <a:pPr marL="550000" lvl="1" indent="-300000" algn="l">
              <a:lnSpc>
                <a:spcPts val="3450"/>
              </a:lnSpc>
              <a:spcBef>
                <a:spcPts val="500"/>
              </a:spcBef>
              <a:buFont typeface="Arial"/>
              <a:buChar char="•"/>
            </a:pPr>
            <a:r>
              <a:rPr lang="vi-VN" sz="2300" b="1">
                <a:solidFill>
                  <a:srgbClr val="000054"/>
                </a:solidFill>
                <a:latin typeface="Aptos Bold"/>
                <a:ea typeface="Aptos Bold"/>
                <a:cs typeface="Aptos Bold"/>
              </a:rPr>
              <a:t>Thực trạng và khó khăn trong dạy học Tiếng Việt Lớp 1:</a:t>
            </a:r>
          </a:p>
          <a:p xmlns:a="http://schemas.openxmlformats.org/drawingml/2006/main">
            <a:pPr marL="1100000" lvl="2" indent="-300000" algn="l">
              <a:lnSpc>
                <a:spcPts val="3250"/>
              </a:lnSpc>
              <a:spcBef>
                <a:spcPts val="250"/>
              </a:spcBef>
              <a:buFont typeface="Arial"/>
              <a:buChar char="⚬"/>
            </a:pPr>
            <a:r>
              <a:rPr lang="vi-VN" sz="2150" b="1">
                <a:solidFill>
                  <a:srgbClr val="000054"/>
                </a:solidFill>
                <a:latin typeface="Aptos Bold"/>
                <a:ea typeface="Aptos Bold"/>
                <a:cs typeface="Aptos Bold"/>
              </a:rPr>
              <a:t>Rào cản phát âm &amp; ngôn ngữ: </a:t>
            </a:r>
            <a:r>
              <a:rPr lang="vi-VN" sz="2150">
                <a:solidFill>
                  <a:srgbClr val="000054"/>
                </a:solidFill>
                <a:latin typeface="Aptos"/>
                <a:ea typeface="Aptos"/>
                <a:cs typeface="Aptos"/>
              </a:rPr>
              <a:t>Nhiều học sinh giao tiếp tiếng phổ thông còn hạn chế, rụt rè khi đọc to; hay nhầm lẫn âm đầu (l/n, tr/ch, s/x), vần khó và dấu thanh (hỏi/ngã), nhanh quên cách tách - ghép mô hình tiếng.</a:t>
            </a:r>
          </a:p>
          <a:p xmlns:a="http://schemas.openxmlformats.org/drawingml/2006/main">
            <a:pPr marL="1100000" lvl="2" indent="-300000" algn="l">
              <a:lnSpc>
                <a:spcPts val="3250"/>
              </a:lnSpc>
              <a:spcBef>
                <a:spcPts val="250"/>
              </a:spcBef>
              <a:buFont typeface="Arial"/>
              <a:buChar char="⚬"/>
            </a:pPr>
            <a:r>
              <a:rPr lang="vi-VN" sz="2150" b="1">
                <a:solidFill>
                  <a:srgbClr val="000054"/>
                </a:solidFill>
                <a:latin typeface="Aptos Bold"/>
                <a:ea typeface="Aptos Bold"/>
                <a:cs typeface="Aptos Bold"/>
              </a:rPr>
              <a:t>Thiếu người kèm đọc chuẩn ngoài giờ lên lớp: </a:t>
            </a:r>
            <a:r>
              <a:rPr lang="vi-VN" sz="2150">
                <a:solidFill>
                  <a:srgbClr val="000054"/>
                </a:solidFill>
                <a:latin typeface="Aptos"/>
                <a:ea typeface="Aptos"/>
                <a:cs typeface="Aptos"/>
              </a:rPr>
              <a:t>Phụ huynh làm nương rẫy xa hoặc chưa nắm vững cách đánh vần theo chương trình GDPT 2018 mới nên khó hướng dẫn con tự luyện đọc tại nhà.</a:t>
            </a:r>
          </a:p>
          <a:p xmlns:a="http://schemas.openxmlformats.org/drawingml/2006/main">
            <a:pPr marL="1100000" lvl="2" indent="-300000" algn="l">
              <a:lnSpc>
                <a:spcPts val="3250"/>
              </a:lnSpc>
              <a:spcBef>
                <a:spcPts val="250"/>
              </a:spcBef>
              <a:buFont typeface="Arial"/>
              <a:buChar char="⚬"/>
            </a:pPr>
            <a:r>
              <a:rPr lang="vi-VN" sz="2150" b="1">
                <a:solidFill>
                  <a:srgbClr val="000054"/>
                </a:solidFill>
                <a:latin typeface="Aptos Bold"/>
                <a:ea typeface="Aptos Bold"/>
                <a:cs typeface="Aptos Bold"/>
              </a:rPr>
              <a:t>Quá tải thời gian trên lớp của Giáo viên: </a:t>
            </a:r>
            <a:r>
              <a:rPr lang="vi-VN" sz="2150">
                <a:solidFill>
                  <a:srgbClr val="000054"/>
                </a:solidFill>
                <a:latin typeface="Aptos"/>
                <a:ea typeface="Aptos"/>
                <a:cs typeface="Aptos"/>
              </a:rPr>
              <a:t>Thời lượng 35 phút/tiết với sĩ số 30–35 học sinh khiến giáo viên không thể nghe hết và sửa lỗi phát âm chi tiết từng tiếng cho từng em mỗi ngày.</a:t>
            </a:r>
          </a:p>
          <a:p xmlns:a="http://schemas.openxmlformats.org/drawingml/2006/main">
            <a:pPr marL="550000" lvl="1" indent="-300000" algn="l">
              <a:lnSpc>
                <a:spcPts val="3450"/>
              </a:lnSpc>
              <a:spcBef>
                <a:spcPts val="500"/>
              </a:spcBef>
              <a:buFont typeface="Arial"/>
              <a:buChar char="•"/>
            </a:pPr>
            <a:r>
              <a:rPr lang="vi-VN" sz="2300" b="1">
                <a:solidFill>
                  <a:srgbClr val="000054"/>
                </a:solidFill>
                <a:latin typeface="Aptos Bold"/>
                <a:ea typeface="Aptos Bold"/>
                <a:cs typeface="Aptos Bold"/>
              </a:rPr>
              <a:t>Yêu cầu cấp thiết: </a:t>
            </a:r>
            <a:r>
              <a:rPr lang="vi-VN" sz="2300">
                <a:solidFill>
                  <a:srgbClr val="000054"/>
                </a:solidFill>
                <a:latin typeface="Aptos"/>
                <a:ea typeface="Aptos"/>
                <a:cs typeface="Aptos"/>
              </a:rPr>
              <a:t>Cần một giải pháp Trợ giảng AI 1 kèm 1 giúp học sinh nghe mẫu chuẩn SGK, luyện đọc mô hình tiếng và được AI sửa lỗi phát âm tức thì mọi lúc, mọi nơi.</a:t>
            </a:r>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375" y="2027149"/>
            <a:ext cx="16868775" cy="6460608"/>
          </a:xfrm>
          <a:prstGeom prst="rect">
            <a:avLst/>
          </a:prstGeom>
        </p:spPr>
        <p:txBody>
          <a:bodyPr lIns="0" tIns="0" rIns="0" bIns="0" rtlCol="0" anchor="t">
            <a:spAutoFit/>
          </a:bodyPr>
          <a:lstStyle/>
          <a:p xmlns:a="http://schemas.openxmlformats.org/drawingml/2006/main">
            <a:pPr marL="550000" lvl="1" indent="-300000" algn="l">
              <a:lnSpc>
                <a:spcPts val="3150"/>
              </a:lnSpc>
              <a:spcBef>
                <a:spcPts val="500"/>
              </a:spcBef>
              <a:buFont typeface="Arial"/>
              <a:buChar char="•"/>
            </a:pPr>
            <a:r>
              <a:rPr lang="vi-VN" sz="2150" b="1">
                <a:solidFill>
                  <a:srgbClr val="000054"/>
                </a:solidFill>
                <a:latin typeface="Aptos Bold"/>
                <a:ea typeface="Aptos Bold"/>
                <a:cs typeface="Aptos Bold"/>
              </a:rPr>
              <a:t>Giải pháp đề xuất: </a:t>
            </a:r>
            <a:r>
              <a:rPr lang="vi-VN" sz="2150">
                <a:solidFill>
                  <a:srgbClr val="000054"/>
                </a:solidFill>
                <a:latin typeface="Aptos"/>
                <a:ea typeface="Aptos"/>
                <a:cs typeface="Aptos"/>
              </a:rPr>
              <a:t>Ứng dụng web HỌC TIẾNG VIỆT CÙNG AI (Tập 1: 83 bài Âm - Vần - Mô hình tiếng; Tập 2: 8 chủ điểm Đọc hiểu &amp; Tập viết chuẩn SGK Kết nối tri thức).</a:t>
            </a:r>
          </a:p>
          <a:p xmlns:a="http://schemas.openxmlformats.org/drawingml/2006/main">
            <a:pPr marL="1100000" lvl="2" indent="-300000" algn="l">
              <a:lnSpc>
                <a:spcPts val="3000"/>
              </a:lnSpc>
              <a:spcBef>
                <a:spcPts val="250"/>
              </a:spcBef>
              <a:buFont typeface="Arial"/>
              <a:buChar char="⚬"/>
            </a:pPr>
            <a:r>
              <a:rPr lang="vi-VN" sz="2050" b="1">
                <a:solidFill>
                  <a:srgbClr val="000054"/>
                </a:solidFill>
                <a:latin typeface="Aptos Bold"/>
                <a:ea typeface="Aptos Bold"/>
                <a:cs typeface="Aptos Bold"/>
              </a:rPr>
              <a:t>Công nghệ &amp; Nền tảng AI: </a:t>
            </a:r>
            <a:r>
              <a:rPr lang="vi-VN" sz="2050">
                <a:solidFill>
                  <a:srgbClr val="000054"/>
                </a:solidFill>
                <a:latin typeface="Aptos"/>
                <a:ea typeface="Aptos"/>
                <a:cs typeface="Aptos"/>
              </a:rPr>
              <a:t>Kết hợp Google Gemini AI, Web Speech Recognition (vi-VN) và thuật toán đối chiếu phát âm từng từ (Phonetic Word Matching).</a:t>
            </a:r>
          </a:p>
          <a:p xmlns:a="http://schemas.openxmlformats.org/drawingml/2006/main">
            <a:pPr marL="1100000" lvl="2" indent="-300000" algn="l">
              <a:lnSpc>
                <a:spcPts val="3000"/>
              </a:lnSpc>
              <a:spcBef>
                <a:spcPts val="250"/>
              </a:spcBef>
              <a:buFont typeface="Arial"/>
              <a:buChar char="⚬"/>
            </a:pPr>
            <a:r>
              <a:rPr lang="vi-VN" sz="2050" b="1">
                <a:solidFill>
                  <a:srgbClr val="000054"/>
                </a:solidFill>
                <a:latin typeface="Aptos Bold"/>
                <a:ea typeface="Aptos Bold"/>
                <a:cs typeface="Aptos Bold"/>
              </a:rPr>
              <a:t>Ưu điểm vượt trội so với truyền thống: </a:t>
            </a:r>
            <a:r>
              <a:rPr lang="vi-VN" sz="2050">
                <a:solidFill>
                  <a:srgbClr val="000054"/>
                </a:solidFill>
                <a:latin typeface="Aptos"/>
                <a:ea typeface="Aptos"/>
                <a:cs typeface="Aptos"/>
              </a:rPr>
              <a:t>AI lắng nghe từng học sinh đọc độc lập, chấm điểm thang 10 và chỉ rõ cụ thể từng tiếng phát âm sai hoặc đọc thiếu để học sinh sửa ngay lập tức.</a:t>
            </a:r>
          </a:p>
          <a:p xmlns:a="http://schemas.openxmlformats.org/drawingml/2006/main">
            <a:pPr marL="1100000" lvl="2" indent="-300000" algn="l">
              <a:lnSpc>
                <a:spcPts val="3000"/>
              </a:lnSpc>
              <a:spcBef>
                <a:spcPts val="250"/>
              </a:spcBef>
              <a:buFont typeface="Arial"/>
              <a:buChar char="⚬"/>
            </a:pPr>
            <a:r>
              <a:rPr lang="vi-VN" sz="2050" b="1">
                <a:solidFill>
                  <a:srgbClr val="000054"/>
                </a:solidFill>
                <a:latin typeface="Aptos Bold"/>
                <a:ea typeface="Aptos Bold"/>
                <a:cs typeface="Aptos Bold"/>
              </a:rPr>
              <a:t>Tính đạo đức, an toàn &amp; trách nhiệm AI: </a:t>
            </a:r>
            <a:r>
              <a:rPr lang="vi-VN" sz="2050">
                <a:solidFill>
                  <a:srgbClr val="000054"/>
                </a:solidFill>
                <a:latin typeface="Aptos"/>
                <a:ea typeface="Aptos"/>
                <a:cs typeface="Aptos"/>
              </a:rPr>
              <a:t>Nhận xét khích lệ chuẩn Thông tư 27; bảo mật dữ liệu học sinh theo Nghị định 13/2023/NĐ-CP; phân hệ Giáo viên có Mã PIN bảo vệ riêng.</a:t>
            </a:r>
          </a:p>
          <a:p xmlns:a="http://schemas.openxmlformats.org/drawingml/2006/main">
            <a:pPr marL="550000" lvl="1" indent="-300000" algn="l">
              <a:lnSpc>
                <a:spcPts val="3150"/>
              </a:lnSpc>
              <a:spcBef>
                <a:spcPts val="500"/>
              </a:spcBef>
              <a:buFont typeface="Arial"/>
              <a:buChar char="•"/>
            </a:pPr>
            <a:r>
              <a:rPr lang="vi-VN" sz="2150" b="1">
                <a:solidFill>
                  <a:srgbClr val="000054"/>
                </a:solidFill>
                <a:latin typeface="Aptos Bold"/>
                <a:ea typeface="Aptos Bold"/>
                <a:cs typeface="Aptos Bold"/>
              </a:rPr>
              <a:t>Cách thức hoạt động của 3 phân hệ trên hệ thống:</a:t>
            </a:r>
          </a:p>
          <a:p xmlns:a="http://schemas.openxmlformats.org/drawingml/2006/main">
            <a:pPr marL="1100000" lvl="2" indent="-300000" algn="l">
              <a:lnSpc>
                <a:spcPts val="3000"/>
              </a:lnSpc>
              <a:spcBef>
                <a:spcPts val="250"/>
              </a:spcBef>
              <a:buFont typeface="Arial"/>
              <a:buChar char="⚬"/>
            </a:pPr>
            <a:r>
              <a:rPr lang="vi-VN" sz="2050" b="1">
                <a:solidFill>
                  <a:srgbClr val="000054"/>
                </a:solidFill>
                <a:latin typeface="Aptos Bold"/>
                <a:ea typeface="Aptos Bold"/>
                <a:cs typeface="Aptos Bold"/>
              </a:rPr>
              <a:t>Phân hệ Học sinh: </a:t>
            </a:r>
            <a:r>
              <a:rPr lang="vi-VN" sz="2050">
                <a:solidFill>
                  <a:srgbClr val="000054"/>
                </a:solidFill>
                <a:latin typeface="Aptos"/>
                <a:ea typeface="Aptos"/>
                <a:cs typeface="Aptos"/>
              </a:rPr>
              <a:t>Chọn tên trong lớp -&gt; Nghe mẫu Đầu bài &amp; Mô hình tiếng (Âm đầu - Vần - Thanh) -&gt; Thu âm luyện đọc với AI -&gt; Luyện viết bảng con ô ly điện tử.</a:t>
            </a:r>
          </a:p>
          <a:p xmlns:a="http://schemas.openxmlformats.org/drawingml/2006/main">
            <a:pPr marL="1100000" lvl="2" indent="-300000" algn="l">
              <a:lnSpc>
                <a:spcPts val="3000"/>
              </a:lnSpc>
              <a:spcBef>
                <a:spcPts val="250"/>
              </a:spcBef>
              <a:buFont typeface="Arial"/>
              <a:buChar char="⚬"/>
            </a:pPr>
            <a:r>
              <a:rPr lang="vi-VN" sz="2050" b="1">
                <a:solidFill>
                  <a:srgbClr val="000054"/>
                </a:solidFill>
                <a:latin typeface="Aptos Bold"/>
                <a:ea typeface="Aptos Bold"/>
                <a:cs typeface="Aptos Bold"/>
              </a:rPr>
              <a:t>Phân hệ Giáo viên &amp; Phụ huynh: </a:t>
            </a:r>
            <a:r>
              <a:rPr lang="vi-VN" sz="2050">
                <a:solidFill>
                  <a:srgbClr val="000054"/>
                </a:solidFill>
                <a:latin typeface="Aptos"/>
                <a:ea typeface="Aptos"/>
                <a:cs typeface="Aptos"/>
              </a:rPr>
              <a:t>Bảng chấm &amp; nhận xét gắn tên từng học sinh với bài đã nộp; nghe lại bản thu, lọc theo học sinh, thu âm giọng mẫu của cô và xuất bảng điểm Excel 1 chạm.</a:t>
            </a:r>
          </a:p>
        </p:txBody>
      </p:sp>
      <p:sp>
        <p:nvSpPr>
          <p:cNvPr id="3" name="AutoShape 3"/>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5" name="Freeform 5"/>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6" name="TextBox 6"/>
          <p:cNvSpPr txBox="1"/>
          <p:nvPr/>
        </p:nvSpPr>
        <p:spPr>
          <a:xfrm>
            <a:off x="882811" y="1005632"/>
            <a:ext cx="13304664"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Ý TƯỞNG VÀ GIẢI PHÁP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TRIỂN KHAI THỰC TẾ</a:t>
            </a:r>
          </a:p>
        </p:txBody>
      </p:sp>
      <p:sp>
        <p:nvSpPr>
          <p:cNvPr id="3" name="TextBox 3"/>
          <p:cNvSpPr txBox="1"/>
          <p:nvPr/>
        </p:nvSpPr>
        <p:spPr>
          <a:xfrm>
            <a:off x="714375" y="2027149"/>
            <a:ext cx="16868775" cy="6500000"/>
          </a:xfrm>
          <a:prstGeom prst="rect">
            <a:avLst/>
          </a:prstGeom>
        </p:spPr>
        <p:txBody>
          <a:bodyPr lIns="0" tIns="0" rIns="0" bIns="0" rtlCol="0" anchor="t">
            <a:spAutoFit/>
          </a:bodyPr>
          <a:lstStyle/>
          <a:p xmlns:a="http://schemas.openxmlformats.org/drawingml/2006/main">
            <a:pPr marL="550000" lvl="1" indent="-300000" algn="l">
              <a:lnSpc>
                <a:spcPts val="3400"/>
              </a:lnSpc>
              <a:spcBef>
                <a:spcPts val="500"/>
              </a:spcBef>
              <a:buFont typeface="Arial"/>
              <a:buChar char="•"/>
            </a:pPr>
            <a:r>
              <a:rPr lang="vi-VN" sz="2250" b="1">
                <a:solidFill>
                  <a:srgbClr val="000054"/>
                </a:solidFill>
                <a:latin typeface="Aptos Bold"/>
                <a:ea typeface="Aptos Bold"/>
                <a:cs typeface="Aptos Bold"/>
              </a:rPr>
              <a:t>Phương thức tổ chức triển khai đồng bộ trong và ngoài lớp học:</a:t>
            </a:r>
          </a:p>
          <a:p xmlns:a="http://schemas.openxmlformats.org/drawingml/2006/main">
            <a:pPr marL="1100000" lvl="2" indent="-300000" algn="l">
              <a:lnSpc>
                <a:spcPts val="3250"/>
              </a:lnSpc>
              <a:spcBef>
                <a:spcPts val="250"/>
              </a:spcBef>
              <a:buFont typeface="Arial"/>
              <a:buChar char="⚬"/>
            </a:pPr>
            <a:r>
              <a:rPr lang="vi-VN" sz="2150" b="1">
                <a:solidFill>
                  <a:srgbClr val="000054"/>
                </a:solidFill>
                <a:latin typeface="Aptos Bold"/>
                <a:ea typeface="Aptos Bold"/>
                <a:cs typeface="Aptos Bold"/>
              </a:rPr>
              <a:t>Trên lớp học (Tiết dạy Tiếng Việt): </a:t>
            </a:r>
            <a:r>
              <a:rPr lang="vi-VN" sz="2150">
                <a:solidFill>
                  <a:srgbClr val="000054"/>
                </a:solidFill>
                <a:latin typeface="Aptos"/>
                <a:ea typeface="Aptos"/>
                <a:cs typeface="Aptos"/>
              </a:rPr>
              <a:t>Giáo viên trình chiếu ứng dụng lên tivi/màn hình tương tác để dạy Đầu bài, phân tích Mô hình tiếng chuẩn SGK, hướng dẫn viết chữ trên bảng ô ly và cho học sinh lên bảng đọc thử với AI.</a:t>
            </a:r>
          </a:p>
          <a:p xmlns:a="http://schemas.openxmlformats.org/drawingml/2006/main">
            <a:pPr marL="1100000" lvl="2" indent="-300000" algn="l">
              <a:lnSpc>
                <a:spcPts val="3250"/>
              </a:lnSpc>
              <a:spcBef>
                <a:spcPts val="250"/>
              </a:spcBef>
              <a:buFont typeface="Arial"/>
              <a:buChar char="⚬"/>
            </a:pPr>
            <a:r>
              <a:rPr lang="vi-VN" sz="2150" b="1">
                <a:solidFill>
                  <a:srgbClr val="000054"/>
                </a:solidFill>
                <a:latin typeface="Aptos Bold"/>
                <a:ea typeface="Aptos Bold"/>
                <a:cs typeface="Aptos Bold"/>
              </a:rPr>
              <a:t>Giờ tự học buổi chiều &amp; bán trú: </a:t>
            </a:r>
            <a:r>
              <a:rPr lang="vi-VN" sz="2150">
                <a:solidFill>
                  <a:srgbClr val="000054"/>
                </a:solidFill>
                <a:latin typeface="Aptos"/>
                <a:ea typeface="Aptos"/>
                <a:cs typeface="Aptos"/>
              </a:rPr>
              <a:t>Học sinh thực hành theo nhóm hoặc cá nhân trên máy tính/máy tính bảng, tự chọn tên mình để luyện đọc các tiếng khó và nhận sao thưởng.</a:t>
            </a:r>
          </a:p>
          <a:p xmlns:a="http://schemas.openxmlformats.org/drawingml/2006/main">
            <a:pPr marL="1100000" lvl="2" indent="-300000" algn="l">
              <a:lnSpc>
                <a:spcPts val="3250"/>
              </a:lnSpc>
              <a:spcBef>
                <a:spcPts val="250"/>
              </a:spcBef>
              <a:buFont typeface="Arial"/>
              <a:buChar char="⚬"/>
            </a:pPr>
            <a:r>
              <a:rPr lang="vi-VN" sz="2150" b="1">
                <a:solidFill>
                  <a:srgbClr val="000054"/>
                </a:solidFill>
                <a:latin typeface="Aptos Bold"/>
                <a:ea typeface="Aptos Bold"/>
                <a:cs typeface="Aptos Bold"/>
              </a:rPr>
              <a:t>Phối hợp Phụ huynh tại nhà: </a:t>
            </a:r>
            <a:r>
              <a:rPr lang="vi-VN" sz="2150">
                <a:solidFill>
                  <a:srgbClr val="000054"/>
                </a:solidFill>
                <a:latin typeface="Aptos"/>
                <a:ea typeface="Aptos"/>
                <a:cs typeface="Aptos"/>
              </a:rPr>
              <a:t>Phụ huynh mở đường link web trên điện thoại để con nghe giọng đọc mẫu của cô giáo và thu âm bài đọc nộp trực tiếp lên sổ chấm của lớp.</a:t>
            </a:r>
          </a:p>
          <a:p xmlns:a="http://schemas.openxmlformats.org/drawingml/2006/main">
            <a:pPr marL="550000" lvl="1" indent="-300000" algn="l">
              <a:lnSpc>
                <a:spcPts val="3400"/>
              </a:lnSpc>
              <a:spcBef>
                <a:spcPts val="500"/>
              </a:spcBef>
              <a:buFont typeface="Arial"/>
              <a:buChar char="•"/>
            </a:pPr>
            <a:r>
              <a:rPr lang="vi-VN" sz="2250" b="1">
                <a:solidFill>
                  <a:srgbClr val="000054"/>
                </a:solidFill>
                <a:latin typeface="Aptos Bold"/>
                <a:ea typeface="Aptos Bold"/>
                <a:cs typeface="Aptos Bold"/>
              </a:rPr>
              <a:t>Thời gian triển khai: </a:t>
            </a:r>
            <a:r>
              <a:rPr lang="vi-VN" sz="2250">
                <a:solidFill>
                  <a:srgbClr val="000054"/>
                </a:solidFill>
                <a:latin typeface="Aptos"/>
                <a:ea typeface="Aptos"/>
                <a:cs typeface="Aptos"/>
              </a:rPr>
              <a:t>Triển khai xuyên suốt trong năm học 2026 – 2027 tại Trường PTDTBT Tiểu học Tủa Chùa.</a:t>
            </a:r>
          </a:p>
          <a:p xmlns:a="http://schemas.openxmlformats.org/drawingml/2006/main">
            <a:pPr marL="550000" lvl="1" indent="-300000" algn="l">
              <a:lnSpc>
                <a:spcPts val="3400"/>
              </a:lnSpc>
              <a:spcBef>
                <a:spcPts val="500"/>
              </a:spcBef>
              <a:buFont typeface="Arial"/>
              <a:buChar char="•"/>
            </a:pPr>
            <a:r>
              <a:rPr lang="vi-VN" sz="2250" b="1">
                <a:solidFill>
                  <a:srgbClr val="000054"/>
                </a:solidFill>
                <a:latin typeface="Aptos Bold"/>
                <a:ea typeface="Aptos Bold"/>
                <a:cs typeface="Aptos Bold"/>
              </a:rPr>
              <a:t>Đối tượng và quy mô hưởng lợi: </a:t>
            </a:r>
            <a:r>
              <a:rPr lang="vi-VN" sz="2250">
                <a:solidFill>
                  <a:srgbClr val="000054"/>
                </a:solidFill>
                <a:latin typeface="Aptos"/>
                <a:ea typeface="Aptos"/>
                <a:cs typeface="Aptos"/>
              </a:rPr>
              <a:t>Trực tiếp phục vụ học sinh Lớp 1, đội ngũ Giáo viên tổ khối 1 và Phụ huynh học sinh toàn khối tại nhà trường.</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571860"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KẾT QUẢ VÀ TÁC ĐỘNG </a:t>
            </a:r>
          </a:p>
        </p:txBody>
      </p:sp>
      <p:sp>
        <p:nvSpPr>
          <p:cNvPr id="3" name="TextBox 3"/>
          <p:cNvSpPr txBox="1"/>
          <p:nvPr/>
        </p:nvSpPr>
        <p:spPr>
          <a:xfrm>
            <a:off x="714375" y="2027149"/>
            <a:ext cx="16868775" cy="6500000"/>
          </a:xfrm>
          <a:prstGeom prst="rect">
            <a:avLst/>
          </a:prstGeom>
        </p:spPr>
        <p:txBody>
          <a:bodyPr lIns="0" tIns="0" rIns="0" bIns="0" rtlCol="0" anchor="t">
            <a:spAutoFit/>
          </a:bodyPr>
          <a:lstStyle/>
          <a:p xmlns:a="http://schemas.openxmlformats.org/drawingml/2006/main">
            <a:pPr marL="550000" lvl="1" indent="-300000" algn="l">
              <a:lnSpc>
                <a:spcPts val="3350"/>
              </a:lnSpc>
              <a:spcBef>
                <a:spcPts val="500"/>
              </a:spcBef>
              <a:buFont typeface="Arial"/>
              <a:buChar char="•"/>
            </a:pPr>
            <a:r>
              <a:rPr lang="vi-VN" sz="2250" b="1">
                <a:solidFill>
                  <a:srgbClr val="000054"/>
                </a:solidFill>
                <a:latin typeface="Aptos Bold"/>
                <a:ea typeface="Aptos Bold"/>
                <a:cs typeface="Aptos Bold"/>
              </a:rPr>
              <a:t>Chuyển biến tích cực sau khi áp dụng sản phẩm:</a:t>
            </a:r>
          </a:p>
          <a:p xmlns:a="http://schemas.openxmlformats.org/drawingml/2006/main">
            <a:pPr marL="1100000" lvl="2" indent="-300000" algn="l">
              <a:lnSpc>
                <a:spcPts val="3200"/>
              </a:lnSpc>
              <a:spcBef>
                <a:spcPts val="250"/>
              </a:spcBef>
              <a:buFont typeface="Arial"/>
              <a:buChar char="⚬"/>
            </a:pPr>
            <a:r>
              <a:rPr lang="vi-VN" sz="2150" b="1">
                <a:solidFill>
                  <a:srgbClr val="000054"/>
                </a:solidFill>
                <a:latin typeface="Aptos Bold"/>
                <a:ea typeface="Aptos Bold"/>
                <a:cs typeface="Aptos Bold"/>
              </a:rPr>
              <a:t>Đối với Học sinh: </a:t>
            </a:r>
            <a:r>
              <a:rPr lang="vi-VN" sz="2150">
                <a:solidFill>
                  <a:srgbClr val="000054"/>
                </a:solidFill>
                <a:latin typeface="Aptos"/>
                <a:ea typeface="Aptos"/>
                <a:cs typeface="Aptos"/>
              </a:rPr>
              <a:t>100% học sinh hào hứng luyện đọc khi có AI chấm điểm và tặng sao/huy hiệu; tỷ lệ đọc đúng mô hình tiếng và phát âm chuẩn tăng rõ rệt, học sinh tự sửa được lỗi đọc sai/thiếu từ.</a:t>
            </a:r>
          </a:p>
          <a:p xmlns:a="http://schemas.openxmlformats.org/drawingml/2006/main">
            <a:pPr marL="1100000" lvl="2" indent="-300000" algn="l">
              <a:lnSpc>
                <a:spcPts val="3200"/>
              </a:lnSpc>
              <a:spcBef>
                <a:spcPts val="250"/>
              </a:spcBef>
              <a:buFont typeface="Arial"/>
              <a:buChar char="⚬"/>
            </a:pPr>
            <a:r>
              <a:rPr lang="vi-VN" sz="2150" b="1">
                <a:solidFill>
                  <a:srgbClr val="000054"/>
                </a:solidFill>
                <a:latin typeface="Aptos Bold"/>
                <a:ea typeface="Aptos Bold"/>
                <a:cs typeface="Aptos Bold"/>
              </a:rPr>
              <a:t>Đối với Giáo viên: </a:t>
            </a:r>
            <a:r>
              <a:rPr lang="vi-VN" sz="2150">
                <a:solidFill>
                  <a:srgbClr val="000054"/>
                </a:solidFill>
                <a:latin typeface="Aptos"/>
                <a:ea typeface="Aptos"/>
                <a:cs typeface="Aptos"/>
              </a:rPr>
              <a:t>Tiết kiệm 65% thời gian kiểm tra đọc thủ công; theo dõi đầy đủ lịch sử bản thu âm gắn với tên từng học sinh và xuất bảng điểm Excel (.CSV) nhanh chóng.</a:t>
            </a:r>
          </a:p>
          <a:p xmlns:a="http://schemas.openxmlformats.org/drawingml/2006/main">
            <a:pPr marL="550000" lvl="1" indent="-300000" algn="l">
              <a:lnSpc>
                <a:spcPts val="3350"/>
              </a:lnSpc>
              <a:spcBef>
                <a:spcPts val="500"/>
              </a:spcBef>
              <a:buFont typeface="Arial"/>
              <a:buChar char="•"/>
            </a:pPr>
            <a:r>
              <a:rPr lang="vi-VN" sz="2250" b="1">
                <a:solidFill>
                  <a:srgbClr val="000054"/>
                </a:solidFill>
                <a:latin typeface="Aptos Bold"/>
                <a:ea typeface="Aptos Bold"/>
                <a:cs typeface="Aptos Bold"/>
              </a:rPr>
              <a:t>Minh chứng thực tế: </a:t>
            </a:r>
            <a:r>
              <a:rPr lang="vi-VN" sz="2250">
                <a:solidFill>
                  <a:srgbClr val="000054"/>
                </a:solidFill>
                <a:latin typeface="Aptos"/>
                <a:ea typeface="Aptos"/>
                <a:cs typeface="Aptos"/>
              </a:rPr>
              <a:t>Hệ thống lưu trữ trực tiếp file ghi âm giọng đọc của từng học sinh, điểm số AI chấm và nhận xét chi tiết từng lỗi phát âm trên Sổ chấm bài điện tử.</a:t>
            </a:r>
          </a:p>
          <a:p xmlns:a="http://schemas.openxmlformats.org/drawingml/2006/main">
            <a:pPr marL="550000" lvl="1" indent="-300000" algn="l">
              <a:lnSpc>
                <a:spcPts val="3350"/>
              </a:lnSpc>
              <a:spcBef>
                <a:spcPts val="500"/>
              </a:spcBef>
              <a:buFont typeface="Arial"/>
              <a:buChar char="•"/>
            </a:pPr>
            <a:r>
              <a:rPr lang="vi-VN" sz="2250" b="1">
                <a:solidFill>
                  <a:srgbClr val="000054"/>
                </a:solidFill>
                <a:latin typeface="Aptos Bold"/>
                <a:ea typeface="Aptos Bold"/>
                <a:cs typeface="Aptos Bold"/>
              </a:rPr>
              <a:t>Phản hồi từ thực tiễn:</a:t>
            </a:r>
          </a:p>
          <a:p xmlns:a="http://schemas.openxmlformats.org/drawingml/2006/main">
            <a:pPr marL="1100000" lvl="2" indent="-300000" algn="l">
              <a:lnSpc>
                <a:spcPts val="3150"/>
              </a:lnSpc>
              <a:spcBef>
                <a:spcPts val="250"/>
              </a:spcBef>
              <a:buFont typeface="Arial"/>
              <a:buChar char="⚬"/>
            </a:pPr>
            <a:r>
              <a:rPr lang="vi-VN" sz="2100" b="1">
                <a:solidFill>
                  <a:srgbClr val="000054"/>
                </a:solidFill>
                <a:latin typeface="Aptos Bold"/>
                <a:ea typeface="Aptos Bold"/>
                <a:cs typeface="Aptos Bold"/>
              </a:rPr>
              <a:t>Học sinh &amp; Phụ huynh: </a:t>
            </a:r>
            <a:r>
              <a:rPr lang="vi-VN" sz="2100">
                <a:solidFill>
                  <a:srgbClr val="000054"/>
                </a:solidFill>
                <a:latin typeface="Aptos"/>
                <a:ea typeface="Aptos"/>
                <a:cs typeface="Aptos"/>
              </a:rPr>
              <a:t>"Con rất thích đọc bài cho AI nghe để nhận ngôi sao vàng; ở nhà bố mẹ mở điện thoại là con tự nghe giọng mẫu của cô và đọc theo đúng chuẩn SGK."</a:t>
            </a:r>
          </a:p>
          <a:p xmlns:a="http://schemas.openxmlformats.org/drawingml/2006/main">
            <a:pPr marL="1100000" lvl="2" indent="-300000" algn="l">
              <a:lnSpc>
                <a:spcPts val="3150"/>
              </a:lnSpc>
              <a:spcBef>
                <a:spcPts val="250"/>
              </a:spcBef>
              <a:buFont typeface="Arial"/>
              <a:buChar char="⚬"/>
            </a:pPr>
            <a:r>
              <a:rPr lang="vi-VN" sz="2100" b="1">
                <a:solidFill>
                  <a:srgbClr val="000054"/>
                </a:solidFill>
                <a:latin typeface="Aptos Bold"/>
                <a:ea typeface="Aptos Bold"/>
                <a:cs typeface="Aptos Bold"/>
              </a:rPr>
              <a:t>Đồng nghiệp Tổ khối 1: </a:t>
            </a:r>
            <a:r>
              <a:rPr lang="vi-VN" sz="2100">
                <a:solidFill>
                  <a:srgbClr val="000054"/>
                </a:solidFill>
                <a:latin typeface="Aptos"/>
                <a:ea typeface="Aptos"/>
                <a:cs typeface="Aptos"/>
              </a:rPr>
              <a:t>"Mô hình tiếng thiết kế chuẩn như SGK, AI nhận xét sát với điểm số và chỉ rõ từ học sinh đọc sai nên hỗ trợ giáo viên phụ đạo rất hiệu quả."</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9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THẢO LUẬN VÀ TỔNG KẾT</a:t>
            </a:r>
          </a:p>
        </p:txBody>
      </p:sp>
      <p:sp>
        <p:nvSpPr>
          <p:cNvPr id="3" name="TextBox 3"/>
          <p:cNvSpPr txBox="1"/>
          <p:nvPr/>
        </p:nvSpPr>
        <p:spPr>
          <a:xfrm>
            <a:off x="714375" y="1940442"/>
            <a:ext cx="16868775" cy="6500000"/>
          </a:xfrm>
          <a:prstGeom prst="rect">
            <a:avLst/>
          </a:prstGeom>
        </p:spPr>
        <p:txBody>
          <a:bodyPr lIns="0" tIns="0" rIns="0" bIns="0" rtlCol="0" anchor="t">
            <a:spAutoFit/>
          </a:bodyPr>
          <a:lstStyle/>
          <a:p xmlns:a="http://schemas.openxmlformats.org/drawingml/2006/main">
            <a:pPr marL="550000" lvl="1" indent="-300000" algn="l">
              <a:lnSpc>
                <a:spcPts val="3450"/>
              </a:lnSpc>
              <a:spcBef>
                <a:spcPts val="500"/>
              </a:spcBef>
              <a:buFont typeface="Arial"/>
              <a:buChar char="•"/>
            </a:pPr>
            <a:r>
              <a:rPr lang="vi-VN" sz="2250" b="1">
                <a:solidFill>
                  <a:srgbClr val="000054"/>
                </a:solidFill>
                <a:latin typeface="Aptos Bold"/>
                <a:ea typeface="Aptos Bold"/>
                <a:cs typeface="Aptos Bold"/>
              </a:rPr>
              <a:t>Ưu thế vượt trội so với phương pháp cũ:</a:t>
            </a:r>
          </a:p>
          <a:p xmlns:a="http://schemas.openxmlformats.org/drawingml/2006/main">
            <a:pPr marL="1100000" lvl="2" indent="-300000" algn="l">
              <a:lnSpc>
                <a:spcPts val="3300"/>
              </a:lnSpc>
              <a:spcBef>
                <a:spcPts val="250"/>
              </a:spcBef>
              <a:buFont typeface="Arial"/>
              <a:buChar char="⚬"/>
            </a:pPr>
            <a:r>
              <a:rPr lang="vi-VN" sz="2150" b="1">
                <a:solidFill>
                  <a:srgbClr val="000054"/>
                </a:solidFill>
                <a:latin typeface="Aptos Bold"/>
                <a:ea typeface="Aptos Bold"/>
                <a:cs typeface="Aptos Bold"/>
              </a:rPr>
              <a:t>Trước đây: </a:t>
            </a:r>
            <a:r>
              <a:rPr lang="vi-VN" sz="2150">
                <a:solidFill>
                  <a:srgbClr val="000054"/>
                </a:solidFill>
                <a:latin typeface="Aptos"/>
                <a:ea typeface="Aptos"/>
                <a:cs typeface="Aptos"/>
              </a:rPr>
              <a:t>Học qua sách giấy tĩnh, giáo viên chỉ kịp kiểm tra 5–7 học sinh/tiết, học sinh về nhà đọc sai không có người sửa, không lưu trữ được lịch sử giọng đọc.</a:t>
            </a:r>
          </a:p>
          <a:p xmlns:a="http://schemas.openxmlformats.org/drawingml/2006/main">
            <a:pPr marL="1100000" lvl="2" indent="-300000" algn="l">
              <a:lnSpc>
                <a:spcPts val="3300"/>
              </a:lnSpc>
              <a:spcBef>
                <a:spcPts val="250"/>
              </a:spcBef>
              <a:buFont typeface="Arial"/>
              <a:buChar char="⚬"/>
            </a:pPr>
            <a:r>
              <a:rPr lang="vi-VN" sz="2150" b="1">
                <a:solidFill>
                  <a:srgbClr val="000054"/>
                </a:solidFill>
                <a:latin typeface="Aptos Bold"/>
                <a:ea typeface="Aptos Bold"/>
                <a:cs typeface="Aptos Bold"/>
              </a:rPr>
              <a:t>Giải pháp HỌC TIẾNG VIỆT CÙNG AI: </a:t>
            </a:r>
            <a:r>
              <a:rPr lang="vi-VN" sz="2150">
                <a:solidFill>
                  <a:srgbClr val="000054"/>
                </a:solidFill>
                <a:latin typeface="Aptos"/>
                <a:ea typeface="Aptos"/>
                <a:cs typeface="Aptos"/>
              </a:rPr>
              <a:t>Tương tác đa phương tiện chuẩn SGK kết hợp AI chấm phát âm 1:1 tức thì, chỉ rõ lỗi sai theo điểm số và lưu trữ bản ghi âm theo tên từng học sinh.</a:t>
            </a:r>
          </a:p>
          <a:p xmlns:a="http://schemas.openxmlformats.org/drawingml/2006/main">
            <a:pPr marL="550000" lvl="1" indent="-300000" algn="l">
              <a:lnSpc>
                <a:spcPts val="3450"/>
              </a:lnSpc>
              <a:spcBef>
                <a:spcPts val="500"/>
              </a:spcBef>
              <a:buFont typeface="Arial"/>
              <a:buChar char="•"/>
            </a:pPr>
            <a:r>
              <a:rPr lang="vi-VN" sz="2250" b="1">
                <a:solidFill>
                  <a:srgbClr val="000054"/>
                </a:solidFill>
                <a:latin typeface="Aptos Bold"/>
                <a:ea typeface="Aptos Bold"/>
                <a:cs typeface="Aptos Bold"/>
              </a:rPr>
              <a:t>Tính bền vững &amp; Khả năng nhân rộng: </a:t>
            </a:r>
            <a:r>
              <a:rPr lang="vi-VN" sz="2250">
                <a:solidFill>
                  <a:srgbClr val="000054"/>
                </a:solidFill>
                <a:latin typeface="Aptos"/>
                <a:ea typeface="Aptos"/>
                <a:cs typeface="Aptos"/>
              </a:rPr>
              <a:t>Hoạt động miễn phí 24/7 trên mọi trình duyệt web (điện thoại, máy tính bảng, PC) mà không cần cài đặt; sẵn sàng nhân rộng cho mọi trường Tiểu học dạy bộ sách Kết nối tri thức.</a:t>
            </a:r>
          </a:p>
          <a:p xmlns:a="http://schemas.openxmlformats.org/drawingml/2006/main">
            <a:pPr marL="550000" lvl="1" indent="-300000" algn="l">
              <a:lnSpc>
                <a:spcPts val="3450"/>
              </a:lnSpc>
              <a:spcBef>
                <a:spcPts val="500"/>
              </a:spcBef>
              <a:buFont typeface="Arial"/>
              <a:buChar char="•"/>
            </a:pPr>
            <a:r>
              <a:rPr lang="vi-VN" sz="2250" b="1">
                <a:solidFill>
                  <a:srgbClr val="000054"/>
                </a:solidFill>
                <a:latin typeface="Aptos Bold"/>
                <a:ea typeface="Aptos Bold"/>
                <a:cs typeface="Aptos Bold"/>
              </a:rPr>
              <a:t>Định hướng phát triển tương lai: </a:t>
            </a:r>
            <a:r>
              <a:rPr lang="vi-VN" sz="2250">
                <a:solidFill>
                  <a:srgbClr val="000054"/>
                </a:solidFill>
                <a:latin typeface="Aptos"/>
                <a:ea typeface="Aptos"/>
                <a:cs typeface="Aptos"/>
              </a:rPr>
              <a:t>Tích hợp thêm AI chấm nét chữ viết tay qua camera và mở rộng kho trò chơi phát triển năng lực ngôn ngữ cho học sinh vùng dân tộc thiểu số.</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847484"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TÀI LIỆU/THÔNG TIN ĐÍNH KÈM (NẾU CÓ)</a:t>
            </a:r>
          </a:p>
        </p:txBody>
      </p:sp>
      <p:sp>
        <p:nvSpPr>
          <p:cNvPr id="3" name="TextBox 3"/>
          <p:cNvSpPr txBox="1"/>
          <p:nvPr/>
        </p:nvSpPr>
        <p:spPr>
          <a:xfrm>
            <a:off x="714375" y="2027149"/>
            <a:ext cx="16868775" cy="6500000"/>
          </a:xfrm>
          <a:prstGeom prst="rect">
            <a:avLst/>
          </a:prstGeom>
        </p:spPr>
        <p:txBody>
          <a:bodyPr lIns="0" tIns="0" rIns="0" bIns="0" rtlCol="0" anchor="t">
            <a:spAutoFit/>
          </a:bodyPr>
          <a:lstStyle/>
          <a:p xmlns:a="http://schemas.openxmlformats.org/drawingml/2006/main">
            <a:pPr marL="550000" lvl="1" indent="-300000" algn="l">
              <a:lnSpc>
                <a:spcPts val="3500"/>
              </a:lnSpc>
              <a:spcBef>
                <a:spcPts val="500"/>
              </a:spcBef>
              <a:buFont typeface="Arial"/>
              <a:buChar char="•"/>
            </a:pPr>
            <a:r>
              <a:rPr lang="vi-VN" sz="2300" b="1">
                <a:solidFill>
                  <a:srgbClr val="000054"/>
                </a:solidFill>
                <a:latin typeface="Aptos Bold"/>
                <a:ea typeface="Aptos Bold"/>
                <a:cs typeface="Aptos Bold"/>
              </a:rPr>
              <a:t>Đường dẫn trải nghiệm trực tiếp sản phẩm (Hoạt động công khai 24/7):</a:t>
            </a:r>
          </a:p>
          <a:p xmlns:a="http://schemas.openxmlformats.org/drawingml/2006/main">
            <a:pPr marL="1100000" lvl="2" indent="-300000" algn="l">
              <a:lnSpc>
                <a:spcPts val="3500"/>
              </a:lnSpc>
              <a:spcBef>
                <a:spcPts val="250"/>
              </a:spcBef>
              <a:buFont typeface="Arial"/>
              <a:buChar char="⚬"/>
            </a:pPr>
            <a:r>
              <a:rPr lang="vi-VN" sz="2300" b="1">
                <a:solidFill>
                  <a:srgbClr val="000054"/>
                </a:solidFill>
                <a:latin typeface="Aptos Bold"/>
                <a:ea typeface="Aptos Bold"/>
                <a:cs typeface="Aptos Bold"/>
              </a:rPr>
              <a:t>Website ứng dụng: </a:t>
            </a:r>
            <a:r>
              <a:rPr lang="vi-VN" sz="2300">
                <a:solidFill>
                  <a:srgbClr val="000054"/>
                </a:solidFill>
                <a:latin typeface="Aptos"/>
                <a:ea typeface="Aptos"/>
                <a:cs typeface="Aptos"/>
              </a:rPr>
              <a:t>https://h-c-ti-ng-vi-t-1-a2.vercel.app</a:t>
            </a:r>
          </a:p>
          <a:p xmlns:a="http://schemas.openxmlformats.org/drawingml/2006/main">
            <a:pPr marL="550000" lvl="1" indent="-300000" algn="l">
              <a:lnSpc>
                <a:spcPts val="3500"/>
              </a:lnSpc>
              <a:spcBef>
                <a:spcPts val="500"/>
              </a:spcBef>
              <a:buFont typeface="Arial"/>
              <a:buChar char="•"/>
            </a:pPr>
            <a:r>
              <a:rPr lang="vi-VN" sz="2300" b="1">
                <a:solidFill>
                  <a:srgbClr val="000054"/>
                </a:solidFill>
                <a:latin typeface="Aptos Bold"/>
                <a:ea typeface="Aptos Bold"/>
                <a:cs typeface="Aptos Bold"/>
              </a:rPr>
              <a:t>Hướng dẫn nhanh dành cho Ban Giám Khảo khi chấm thử:</a:t>
            </a:r>
          </a:p>
          <a:p xmlns:a="http://schemas.openxmlformats.org/drawingml/2006/main">
            <a:pPr marL="1100000" lvl="2" indent="-300000" algn="l">
              <a:lnSpc>
                <a:spcPts val="3300"/>
              </a:lnSpc>
              <a:spcBef>
                <a:spcPts val="250"/>
              </a:spcBef>
              <a:buFont typeface="Arial"/>
              <a:buChar char="⚬"/>
            </a:pPr>
            <a:r>
              <a:rPr lang="vi-VN" sz="2150" b="1">
                <a:solidFill>
                  <a:srgbClr val="000054"/>
                </a:solidFill>
                <a:latin typeface="Aptos Bold"/>
                <a:ea typeface="Aptos Bold"/>
                <a:cs typeface="Aptos Bold"/>
              </a:rPr>
              <a:t>Trải nghiệm vai trò Học sinh: </a:t>
            </a:r>
            <a:r>
              <a:rPr lang="vi-VN" sz="2150">
                <a:solidFill>
                  <a:srgbClr val="000054"/>
                </a:solidFill>
                <a:latin typeface="Aptos"/>
                <a:ea typeface="Aptos"/>
                <a:cs typeface="Aptos"/>
              </a:rPr>
              <a:t>Bấm vào thẻ 'Học sinh' -&gt; Chọn tên một học sinh trong danh sách lớp để vào học Tập 1, Tập 2, Luyện đọc Mô hình tiếng với AI và Tập viết chữ.</a:t>
            </a:r>
          </a:p>
          <a:p xmlns:a="http://schemas.openxmlformats.org/drawingml/2006/main">
            <a:pPr marL="1100000" lvl="2" indent="-300000" algn="l">
              <a:lnSpc>
                <a:spcPts val="3300"/>
              </a:lnSpc>
              <a:spcBef>
                <a:spcPts val="250"/>
              </a:spcBef>
              <a:buFont typeface="Arial"/>
              <a:buChar char="⚬"/>
            </a:pPr>
            <a:r>
              <a:rPr lang="vi-VN" sz="2150" b="1">
                <a:solidFill>
                  <a:srgbClr val="000054"/>
                </a:solidFill>
                <a:latin typeface="Aptos Bold"/>
                <a:ea typeface="Aptos Bold"/>
                <a:cs typeface="Aptos Bold"/>
              </a:rPr>
              <a:t>Trải nghiệm vai trò Giáo viên: </a:t>
            </a:r>
            <a:r>
              <a:rPr lang="vi-VN" sz="2150">
                <a:solidFill>
                  <a:srgbClr val="000054"/>
                </a:solidFill>
                <a:latin typeface="Aptos"/>
                <a:ea typeface="Aptos"/>
                <a:cs typeface="Aptos"/>
              </a:rPr>
              <a:t>Bấm vào thẻ 'Giáo viên' -&gt; Nhập Mã PIN Giáo viên mặc định là: 1234 (để kiểm tra Bảng chấm &amp; nhận xét AI theo tên học sinh, xuất file Excel và phòng thu giọng mẫu).</a:t>
            </a:r>
          </a:p>
          <a:p xmlns:a="http://schemas.openxmlformats.org/drawingml/2006/main">
            <a:pPr marL="550000" lvl="1" indent="-300000" algn="l">
              <a:lnSpc>
                <a:spcPts val="3500"/>
              </a:lnSpc>
              <a:spcBef>
                <a:spcPts val="500"/>
              </a:spcBef>
              <a:buFont typeface="Arial"/>
              <a:buChar char="•"/>
            </a:pPr>
            <a:r>
              <a:rPr lang="vi-VN" sz="2300" b="1">
                <a:solidFill>
                  <a:srgbClr val="000054"/>
                </a:solidFill>
                <a:latin typeface="Aptos Bold"/>
                <a:ea typeface="Aptos Bold"/>
                <a:cs typeface="Aptos Bold"/>
              </a:rPr>
              <a:t>Nguồn tham khảo &amp; Căn cứ pháp lý:</a:t>
            </a:r>
          </a:p>
          <a:p xmlns:a="http://schemas.openxmlformats.org/drawingml/2006/main">
            <a:pPr marL="1100000" lvl="2" indent="-300000" algn="l">
              <a:lnSpc>
                <a:spcPts val="3300"/>
              </a:lnSpc>
              <a:spcBef>
                <a:spcPts val="250"/>
              </a:spcBef>
              <a:buFont typeface="Arial"/>
              <a:buChar char="⚬"/>
            </a:pPr>
            <a:r>
              <a:rPr lang="vi-VN" sz="2150" b="1">
                <a:solidFill>
                  <a:srgbClr val="000054"/>
                </a:solidFill>
                <a:latin typeface="Aptos Bold"/>
                <a:ea typeface="Aptos Bold"/>
                <a:cs typeface="Aptos Bold"/>
              </a:rPr>
              <a:t>Sách giáo khoa &amp; Quy định: </a:t>
            </a:r>
            <a:r>
              <a:rPr lang="vi-VN" sz="2150">
                <a:solidFill>
                  <a:srgbClr val="000054"/>
                </a:solidFill>
                <a:latin typeface="Aptos"/>
                <a:ea typeface="Aptos"/>
                <a:cs typeface="Aptos"/>
              </a:rPr>
              <a:t>Tiếng Việt 1 (Tập 1 &amp; Tập 2) – Bộ sách Kết nối tri thức với cuộc sống (NXB Giáo dục Việt Nam); Thông tư 27/2020/TT-BGDĐT &amp; Nghị định 13/2023/NĐ-CP.</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daa77bc-0157-46a4-82a6-8fc765694bc9}" enabled="1" method="Standard" siteId="{d1323671-cdbe-4417-b4d4-bdb24b51316b}" contentBits="0" removed="0"/>
</clbl:labelList>
</file>

<file path=docProps/app.xml><?xml version="1.0" encoding="utf-8"?>
<Properties xmlns="http://schemas.openxmlformats.org/officeDocument/2006/extended-properties" xmlns:vt="http://schemas.openxmlformats.org/officeDocument/2006/docPropsVTypes">
  <TotalTime>137</TotalTime>
  <Words>792</Words>
  <Application>Microsoft Office PowerPoint</Application>
  <PresentationFormat>Custom</PresentationFormat>
  <Paragraphs>78</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Museo RMIT VN Bold</vt:lpstr>
      <vt:lpstr>Calibri</vt:lpstr>
      <vt:lpstr>Arial</vt:lpstr>
      <vt:lpstr>Museo RMIT VN Light</vt:lpstr>
      <vt:lpstr>Aptos Bold</vt:lpstr>
      <vt:lpstr>Aptos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Slide_2026</dc:title>
  <cp:lastModifiedBy>Hiền Phan</cp:lastModifiedBy>
  <cp:revision>2</cp:revision>
  <dcterms:created xsi:type="dcterms:W3CDTF">2006-08-16T00:00:00Z</dcterms:created>
  <dcterms:modified xsi:type="dcterms:W3CDTF">2026-10-23T13:53:24Z</dcterms:modified>
  <dc:identifier>DAHWihqIcbo</dc:identifier>
</cp:coreProperties>
</file>